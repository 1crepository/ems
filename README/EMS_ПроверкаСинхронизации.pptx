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2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9E25404-2D17-4094-AEA8-F4F2E9AA61A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53DF4-8343-40E8-AD59-0BBE9C4839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F51F0A-CD96-4675-B8D7-345F5F2485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822A48-4ACF-456C-A834-D254E9D91C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F134A-4A31-424A-89DC-0983AEE13C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106AB-3BFE-4803-B755-DA7E0D739A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47581A-F7BD-46B8-9D26-AF03F20D26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9ADDB-E867-436A-B002-C1F72F5BC6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50291E-2C26-4575-999D-53DA1DC62A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299518-9E12-41BE-B5F8-5C31FEDF49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AA8AEA-AA18-4484-87F3-CDCA3B8CCC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1C657-C96E-4B92-A475-04798A6EDC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05288D-37FD-4E0E-B3AD-737CFBE6FD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35AD43-F7C0-4405-BF9A-CDA145041C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16F2A-FB3E-4702-863F-5CCA02DEC1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10008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840" y="6519600"/>
            <a:ext cx="393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  <a:ea typeface="Aptos"/>
              </a:rPr>
              <a:t>EMS · Проверка синхронизации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8E2EF8-871A-4E60-9510-BAC195AD9B4C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1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5.png"/><Relationship Id="rId18" Type="http://schemas.openxmlformats.org/officeDocument/2006/relationships/image" Target="../media/image60.svg"/><Relationship Id="rId3" Type="http://schemas.openxmlformats.org/officeDocument/2006/relationships/image" Target="../media/image19.png"/><Relationship Id="rId7" Type="http://schemas.openxmlformats.org/officeDocument/2006/relationships/image" Target="../media/image51.png"/><Relationship Id="rId12" Type="http://schemas.openxmlformats.org/officeDocument/2006/relationships/image" Target="../media/image54.sv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11" Type="http://schemas.openxmlformats.org/officeDocument/2006/relationships/image" Target="../media/image53.png"/><Relationship Id="rId5" Type="http://schemas.openxmlformats.org/officeDocument/2006/relationships/image" Target="../media/image49.png"/><Relationship Id="rId15" Type="http://schemas.openxmlformats.org/officeDocument/2006/relationships/image" Target="../media/image57.png"/><Relationship Id="rId10" Type="http://schemas.openxmlformats.org/officeDocument/2006/relationships/image" Target="../media/image4.svg"/><Relationship Id="rId4" Type="http://schemas.openxmlformats.org/officeDocument/2006/relationships/image" Target="../media/image20.svg"/><Relationship Id="rId9" Type="http://schemas.openxmlformats.org/officeDocument/2006/relationships/image" Target="../media/image3.png"/><Relationship Id="rId14" Type="http://schemas.openxmlformats.org/officeDocument/2006/relationships/image" Target="../media/image5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12" Type="http://schemas.openxmlformats.org/officeDocument/2006/relationships/image" Target="../media/image6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11" Type="http://schemas.openxmlformats.org/officeDocument/2006/relationships/image" Target="../media/image63.png"/><Relationship Id="rId5" Type="http://schemas.openxmlformats.org/officeDocument/2006/relationships/image" Target="../media/image61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10" Type="http://schemas.openxmlformats.org/officeDocument/2006/relationships/image" Target="../media/image34.svg"/><Relationship Id="rId4" Type="http://schemas.openxmlformats.org/officeDocument/2006/relationships/image" Target="../media/image66.sv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75.png"/><Relationship Id="rId18" Type="http://schemas.openxmlformats.org/officeDocument/2006/relationships/image" Target="../media/image80.svg"/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12" Type="http://schemas.openxmlformats.org/officeDocument/2006/relationships/image" Target="../media/image74.sv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8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11" Type="http://schemas.openxmlformats.org/officeDocument/2006/relationships/image" Target="../media/image73.png"/><Relationship Id="rId5" Type="http://schemas.openxmlformats.org/officeDocument/2006/relationships/image" Target="../media/image35.png"/><Relationship Id="rId15" Type="http://schemas.openxmlformats.org/officeDocument/2006/relationships/image" Target="../media/image77.png"/><Relationship Id="rId10" Type="http://schemas.openxmlformats.org/officeDocument/2006/relationships/image" Target="../media/image72.svg"/><Relationship Id="rId19" Type="http://schemas.openxmlformats.org/officeDocument/2006/relationships/image" Target="../media/image19.png"/><Relationship Id="rId4" Type="http://schemas.openxmlformats.org/officeDocument/2006/relationships/image" Target="../media/image22.svg"/><Relationship Id="rId9" Type="http://schemas.openxmlformats.org/officeDocument/2006/relationships/image" Target="../media/image71.png"/><Relationship Id="rId14" Type="http://schemas.openxmlformats.org/officeDocument/2006/relationships/image" Target="../media/image7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87.png"/><Relationship Id="rId3" Type="http://schemas.openxmlformats.org/officeDocument/2006/relationships/image" Target="../media/image79.png"/><Relationship Id="rId7" Type="http://schemas.openxmlformats.org/officeDocument/2006/relationships/image" Target="../media/image55.png"/><Relationship Id="rId12" Type="http://schemas.openxmlformats.org/officeDocument/2006/relationships/image" Target="../media/image8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11" Type="http://schemas.openxmlformats.org/officeDocument/2006/relationships/image" Target="../media/image85.png"/><Relationship Id="rId5" Type="http://schemas.openxmlformats.org/officeDocument/2006/relationships/image" Target="../media/image81.png"/><Relationship Id="rId10" Type="http://schemas.openxmlformats.org/officeDocument/2006/relationships/image" Target="../media/image84.svg"/><Relationship Id="rId4" Type="http://schemas.openxmlformats.org/officeDocument/2006/relationships/image" Target="../media/image80.svg"/><Relationship Id="rId9" Type="http://schemas.openxmlformats.org/officeDocument/2006/relationships/image" Target="../media/image83.png"/><Relationship Id="rId14" Type="http://schemas.openxmlformats.org/officeDocument/2006/relationships/image" Target="../media/image8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13" Type="http://schemas.openxmlformats.org/officeDocument/2006/relationships/image" Target="../media/image91.png"/><Relationship Id="rId3" Type="http://schemas.openxmlformats.org/officeDocument/2006/relationships/image" Target="../media/image1.png"/><Relationship Id="rId7" Type="http://schemas.openxmlformats.org/officeDocument/2006/relationships/image" Target="../media/image89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11" Type="http://schemas.openxmlformats.org/officeDocument/2006/relationships/image" Target="../media/image35.png"/><Relationship Id="rId5" Type="http://schemas.openxmlformats.org/officeDocument/2006/relationships/image" Target="../media/image43.png"/><Relationship Id="rId10" Type="http://schemas.openxmlformats.org/officeDocument/2006/relationships/image" Target="../media/image34.svg"/><Relationship Id="rId4" Type="http://schemas.openxmlformats.org/officeDocument/2006/relationships/image" Target="../media/image2.svg"/><Relationship Id="rId9" Type="http://schemas.openxmlformats.org/officeDocument/2006/relationships/image" Target="../media/image33.png"/><Relationship Id="rId14" Type="http://schemas.openxmlformats.org/officeDocument/2006/relationships/image" Target="../media/image9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13" Type="http://schemas.openxmlformats.org/officeDocument/2006/relationships/image" Target="../media/image101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svg"/><Relationship Id="rId11" Type="http://schemas.openxmlformats.org/officeDocument/2006/relationships/image" Target="../media/image99.png"/><Relationship Id="rId5" Type="http://schemas.openxmlformats.org/officeDocument/2006/relationships/image" Target="../media/image95.png"/><Relationship Id="rId10" Type="http://schemas.openxmlformats.org/officeDocument/2006/relationships/image" Target="../media/image26.svg"/><Relationship Id="rId4" Type="http://schemas.openxmlformats.org/officeDocument/2006/relationships/image" Target="../media/image94.svg"/><Relationship Id="rId9" Type="http://schemas.openxmlformats.org/officeDocument/2006/relationships/image" Target="../media/image25.png"/><Relationship Id="rId14" Type="http://schemas.openxmlformats.org/officeDocument/2006/relationships/image" Target="../media/image10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 rot="1200000">
            <a:off x="8595360" y="-274320"/>
            <a:ext cx="3840120" cy="3840120"/>
          </a:xfrm>
          <a:prstGeom prst="arc">
            <a:avLst>
              <a:gd name="adj1" fmla="val 16200000"/>
              <a:gd name="adj2" fmla="val 0"/>
            </a:avLst>
          </a:prstGeom>
          <a:noFill/>
          <a:ln w="101600">
            <a:solidFill>
              <a:srgbClr val="2C5B72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Text 1"/>
          <p:cNvSpPr/>
          <p:nvPr/>
        </p:nvSpPr>
        <p:spPr>
          <a:xfrm>
            <a:off x="585360" y="511920"/>
            <a:ext cx="4297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99">
                <a:solidFill>
                  <a:srgbClr val="95B6C7"/>
                </a:solidFill>
                <a:effectLst/>
                <a:uFillTx/>
                <a:latin typeface="Aptos"/>
                <a:ea typeface="Aptos"/>
              </a:rPr>
              <a:t>РАСШИРЕНИЕ EMS · ОБРАБОТКА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585360" y="1115640"/>
            <a:ext cx="57603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Проверка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синхронизации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12720" y="276156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6D6DE"/>
                </a:solidFill>
                <a:effectLst/>
                <a:uFillTx/>
                <a:latin typeface="Aptos"/>
                <a:ea typeface="Aptos"/>
              </a:rPr>
              <a:t>Как обработка сверяет верхнюю и нижнюю базы,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6D6DE"/>
                </a:solidFill>
                <a:effectLst/>
                <a:uFillTx/>
                <a:latin typeface="Aptos"/>
                <a:ea typeface="Aptos"/>
              </a:rPr>
              <a:t>где возникают расхождения и что делать дальше.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612720" y="3694320"/>
            <a:ext cx="2084400" cy="292320"/>
          </a:xfrm>
          <a:prstGeom prst="roundRect">
            <a:avLst>
              <a:gd name="adj" fmla="val 50000"/>
            </a:avLst>
          </a:prstGeom>
          <a:solidFill>
            <a:srgbClr val="F2C55C"/>
          </a:solidFill>
          <a:ln w="12700">
            <a:solidFill>
              <a:srgbClr val="F2C5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Text 5"/>
          <p:cNvSpPr/>
          <p:nvPr/>
        </p:nvSpPr>
        <p:spPr>
          <a:xfrm>
            <a:off x="685800" y="3712320"/>
            <a:ext cx="1938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СВЕРКА, А НЕ ОБМЕН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6400800" y="1097280"/>
            <a:ext cx="1938240" cy="2102760"/>
          </a:xfrm>
          <a:prstGeom prst="roundRect">
            <a:avLst>
              <a:gd name="adj" fmla="val 5660"/>
            </a:avLst>
          </a:prstGeom>
          <a:solidFill>
            <a:srgbClr val="173F54"/>
          </a:solidFill>
          <a:ln w="12700">
            <a:solidFill>
              <a:srgbClr val="315D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7113960" y="1417320"/>
            <a:ext cx="511560" cy="51156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1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31680" y="153000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8"/>
          <p:cNvSpPr/>
          <p:nvPr/>
        </p:nvSpPr>
        <p:spPr>
          <a:xfrm>
            <a:off x="6638400" y="2103120"/>
            <a:ext cx="146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Верхний ЗУП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629400" y="249624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9C4D2"/>
                </a:solidFill>
                <a:effectLst/>
                <a:uFillTx/>
                <a:latin typeface="Aptos"/>
                <a:ea typeface="Aptos"/>
              </a:rPr>
              <a:t>локальные ключи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9646920" y="1097280"/>
            <a:ext cx="1938240" cy="2102760"/>
          </a:xfrm>
          <a:prstGeom prst="roundRect">
            <a:avLst>
              <a:gd name="adj" fmla="val 5660"/>
            </a:avLst>
          </a:prstGeom>
          <a:solidFill>
            <a:srgbClr val="173F54"/>
          </a:solidFill>
          <a:ln w="12700">
            <a:solidFill>
              <a:srgbClr val="315D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10360080" y="1417320"/>
            <a:ext cx="511560" cy="51156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6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477800" y="153000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12"/>
          <p:cNvSpPr/>
          <p:nvPr/>
        </p:nvSpPr>
        <p:spPr>
          <a:xfrm>
            <a:off x="9875520" y="210312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Нижний ЗУП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9875520" y="249624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9C4D2"/>
                </a:solidFill>
                <a:effectLst/>
                <a:uFillTx/>
                <a:latin typeface="Aptos"/>
                <a:ea typeface="Aptos"/>
              </a:rPr>
              <a:t>HTTP /hs/sverka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8714160" y="1554480"/>
            <a:ext cx="585000" cy="585000"/>
          </a:xfrm>
          <a:prstGeom prst="ellipse">
            <a:avLst/>
          </a:prstGeom>
          <a:solidFill>
            <a:srgbClr val="F2C55C"/>
          </a:solidFill>
          <a:ln w="12700">
            <a:solidFill>
              <a:srgbClr val="F2C5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0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848800" y="1683360"/>
            <a:ext cx="315720" cy="31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Shape 15"/>
          <p:cNvSpPr/>
          <p:nvPr/>
        </p:nvSpPr>
        <p:spPr>
          <a:xfrm>
            <a:off x="8339040" y="1846800"/>
            <a:ext cx="347760" cy="360"/>
          </a:xfrm>
          <a:prstGeom prst="line">
            <a:avLst/>
          </a:prstGeom>
          <a:ln w="27940">
            <a:solidFill>
              <a:srgbClr val="89AFC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9308520" y="1846800"/>
            <a:ext cx="338400" cy="360"/>
          </a:xfrm>
          <a:prstGeom prst="line">
            <a:avLst/>
          </a:prstGeom>
          <a:ln w="27940">
            <a:solidFill>
              <a:srgbClr val="89AFC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8577000" y="230436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ключи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6400800" y="4005000"/>
            <a:ext cx="5184360" cy="1170000"/>
          </a:xfrm>
          <a:prstGeom prst="roundRect">
            <a:avLst>
              <a:gd name="adj" fmla="val 9375"/>
            </a:avLst>
          </a:prstGeom>
          <a:solidFill>
            <a:srgbClr val="102F40"/>
          </a:solidFill>
          <a:ln w="12700">
            <a:solidFill>
              <a:srgbClr val="315D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5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656760" y="4316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9"/>
          <p:cNvSpPr/>
          <p:nvPr/>
        </p:nvSpPr>
        <p:spPr>
          <a:xfrm>
            <a:off x="7150680" y="41605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5B6C7"/>
                </a:solidFill>
                <a:effectLst/>
                <a:uFillTx/>
                <a:latin typeface="Aptos"/>
                <a:ea typeface="Aptos"/>
              </a:rPr>
              <a:t>Ключевое различие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7150680" y="4453200"/>
            <a:ext cx="39772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«Сравнить» сопоставляет ключи и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фиксирует расхождения. Данные сама кнопка не переносит.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НАЗНАЧЕНИЕ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Что на самом деле делает обработка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Кнопка «Сравнить» проверяет различия, а перенос данных выполняется отдельным механизмом.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457200" y="1600200"/>
            <a:ext cx="5486040" cy="3062880"/>
          </a:xfrm>
          <a:prstGeom prst="roundRect">
            <a:avLst>
              <a:gd name="adj" fmla="val 3582"/>
            </a:avLst>
          </a:prstGeom>
          <a:solidFill>
            <a:srgbClr val="EAF5F0"/>
          </a:solidFill>
          <a:ln w="12700">
            <a:solidFill>
              <a:srgbClr val="C9E2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758880" y="1856160"/>
            <a:ext cx="383760" cy="383760"/>
          </a:xfrm>
          <a:prstGeom prst="ellipse">
            <a:avLst/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4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47440" y="194076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5"/>
          <p:cNvSpPr/>
          <p:nvPr/>
        </p:nvSpPr>
        <p:spPr>
          <a:xfrm>
            <a:off x="1261800" y="18655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E9B75"/>
                </a:solidFill>
                <a:effectLst/>
                <a:uFillTx/>
                <a:latin typeface="Aptos"/>
                <a:ea typeface="Aptos"/>
              </a:rPr>
              <a:t>ДЕЛАЕТ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777240" y="2377440"/>
            <a:ext cx="255600" cy="255600"/>
          </a:xfrm>
          <a:prstGeom prst="ellipse">
            <a:avLst/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7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36280" y="2433600"/>
            <a:ext cx="137880" cy="1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7"/>
          <p:cNvSpPr/>
          <p:nvPr/>
        </p:nvSpPr>
        <p:spPr>
          <a:xfrm>
            <a:off x="1170360" y="23227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Сравнивает ключи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3429000" y="232272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верхней и нижней базы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777240" y="2999160"/>
            <a:ext cx="255600" cy="255600"/>
          </a:xfrm>
          <a:prstGeom prst="ellipse">
            <a:avLst/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1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36280" y="3055680"/>
            <a:ext cx="137880" cy="1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10"/>
          <p:cNvSpPr/>
          <p:nvPr/>
        </p:nvSpPr>
        <p:spPr>
          <a:xfrm>
            <a:off x="1170360" y="29444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Показывает расхождения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3429000" y="294444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в EMS_СообщенияСинхронизации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2"/>
          <p:cNvSpPr/>
          <p:nvPr/>
        </p:nvSpPr>
        <p:spPr>
          <a:xfrm>
            <a:off x="777240" y="3620880"/>
            <a:ext cx="255600" cy="255600"/>
          </a:xfrm>
          <a:prstGeom prst="ellipse">
            <a:avLst/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5" name="Image 3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36280" y="3677400"/>
            <a:ext cx="137880" cy="1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3"/>
          <p:cNvSpPr/>
          <p:nvPr/>
        </p:nvSpPr>
        <p:spPr>
          <a:xfrm>
            <a:off x="1170360" y="35661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Помогает зарегистрировать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3429000" y="35661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отсутствующие объекты к обмену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6199560" y="1600200"/>
            <a:ext cx="5531760" cy="3062880"/>
          </a:xfrm>
          <a:prstGeom prst="roundRect">
            <a:avLst>
              <a:gd name="adj" fmla="val 3582"/>
            </a:avLst>
          </a:prstGeom>
          <a:solidFill>
            <a:srgbClr val="F8ECEC"/>
          </a:solidFill>
          <a:ln w="12700">
            <a:solidFill>
              <a:srgbClr val="E7CA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6501240" y="1856160"/>
            <a:ext cx="383760" cy="38376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0" name="Image 4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589800" y="194076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7"/>
          <p:cNvSpPr/>
          <p:nvPr/>
        </p:nvSpPr>
        <p:spPr>
          <a:xfrm>
            <a:off x="7004160" y="18655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НЕ ДЕЛАЕТ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6528960" y="2377440"/>
            <a:ext cx="255600" cy="25560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3" name="Image 5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587640" y="2433600"/>
            <a:ext cx="137880" cy="1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19"/>
          <p:cNvSpPr/>
          <p:nvPr/>
        </p:nvSpPr>
        <p:spPr>
          <a:xfrm>
            <a:off x="6931080" y="23227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Не переносит объекты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9144000" y="232272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между информационными базами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6528960" y="2999160"/>
            <a:ext cx="255600" cy="25560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7" name="Image 6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587640" y="3055680"/>
            <a:ext cx="137880" cy="1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22"/>
          <p:cNvSpPr/>
          <p:nvPr/>
        </p:nvSpPr>
        <p:spPr>
          <a:xfrm>
            <a:off x="6931080" y="29444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Не выполняет обмен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9144000" y="294444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вместо стандартного механизма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4"/>
          <p:cNvSpPr/>
          <p:nvPr/>
        </p:nvSpPr>
        <p:spPr>
          <a:xfrm>
            <a:off x="6528960" y="3620880"/>
            <a:ext cx="255600" cy="25560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1" name="Image 7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587640" y="3677400"/>
            <a:ext cx="137880" cy="1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5"/>
          <p:cNvSpPr/>
          <p:nvPr/>
        </p:nvSpPr>
        <p:spPr>
          <a:xfrm>
            <a:off x="6931080" y="35661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Не хранит историю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6"/>
          <p:cNvSpPr/>
          <p:nvPr/>
        </p:nvSpPr>
        <p:spPr>
          <a:xfrm>
            <a:off x="9144000" y="35661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регистр сообщений заменяется целиком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7"/>
          <p:cNvSpPr/>
          <p:nvPr/>
        </p:nvSpPr>
        <p:spPr>
          <a:xfrm>
            <a:off x="457200" y="4956120"/>
            <a:ext cx="260568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Text 28"/>
          <p:cNvSpPr/>
          <p:nvPr/>
        </p:nvSpPr>
        <p:spPr>
          <a:xfrm>
            <a:off x="621720" y="507492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9"/>
          <p:cNvSpPr/>
          <p:nvPr/>
        </p:nvSpPr>
        <p:spPr>
          <a:xfrm>
            <a:off x="621720" y="5385960"/>
            <a:ext cx="2276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страниц основной формы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0"/>
          <p:cNvSpPr/>
          <p:nvPr/>
        </p:nvSpPr>
        <p:spPr>
          <a:xfrm>
            <a:off x="3182040" y="4956120"/>
            <a:ext cx="260568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Text 31"/>
          <p:cNvSpPr/>
          <p:nvPr/>
        </p:nvSpPr>
        <p:spPr>
          <a:xfrm>
            <a:off x="3346560" y="507492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2"/>
          <p:cNvSpPr/>
          <p:nvPr/>
        </p:nvSpPr>
        <p:spPr>
          <a:xfrm>
            <a:off x="3346560" y="5385960"/>
            <a:ext cx="2276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собственных команд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3"/>
          <p:cNvSpPr/>
          <p:nvPr/>
        </p:nvSpPr>
        <p:spPr>
          <a:xfrm>
            <a:off x="5906880" y="4956120"/>
            <a:ext cx="260568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Text 34"/>
          <p:cNvSpPr/>
          <p:nvPr/>
        </p:nvSpPr>
        <p:spPr>
          <a:xfrm>
            <a:off x="6071760" y="507492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5"/>
          <p:cNvSpPr/>
          <p:nvPr/>
        </p:nvSpPr>
        <p:spPr>
          <a:xfrm>
            <a:off x="6071760" y="5385960"/>
            <a:ext cx="2276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хранилища данных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6"/>
          <p:cNvSpPr/>
          <p:nvPr/>
        </p:nvSpPr>
        <p:spPr>
          <a:xfrm>
            <a:off x="8632080" y="4956120"/>
            <a:ext cx="309960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Text 37"/>
          <p:cNvSpPr/>
          <p:nvPr/>
        </p:nvSpPr>
        <p:spPr>
          <a:xfrm>
            <a:off x="8796600" y="507492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D98C3F"/>
                </a:solidFill>
                <a:effectLst/>
                <a:uFillTx/>
                <a:latin typeface="Aptos"/>
                <a:ea typeface="Aptos"/>
              </a:rPr>
              <a:t>В&lt;Л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8"/>
          <p:cNvSpPr/>
          <p:nvPr/>
        </p:nvSpPr>
        <p:spPr>
          <a:xfrm>
            <a:off x="8796600" y="5385960"/>
            <a:ext cx="27702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фиксируемое направление расхождения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9"/>
          <p:cNvSpPr/>
          <p:nvPr/>
        </p:nvSpPr>
        <p:spPr>
          <a:xfrm>
            <a:off x="3447360" y="5961960"/>
            <a:ext cx="5303160" cy="292320"/>
          </a:xfrm>
          <a:prstGeom prst="roundRect">
            <a:avLst>
              <a:gd name="adj" fmla="val 50000"/>
            </a:avLst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Text 40"/>
          <p:cNvSpPr/>
          <p:nvPr/>
        </p:nvSpPr>
        <p:spPr>
          <a:xfrm>
            <a:off x="3520440" y="5980320"/>
            <a:ext cx="51570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Главный результат → список проблем для разбора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5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961BE7-C13D-4297-966F-CE4B2E77CF50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КАРТА ФОРМЫ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Пять страниц — один рабочий сценарий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Вместо таблицы — логика формы как маршрут пользователя.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457200" y="1600200"/>
            <a:ext cx="1129248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685800" y="1883520"/>
            <a:ext cx="2011320" cy="292320"/>
          </a:xfrm>
          <a:prstGeom prst="roundRect">
            <a:avLst>
              <a:gd name="adj" fmla="val 50000"/>
            </a:avLst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4" name="Text 5"/>
          <p:cNvSpPr/>
          <p:nvPr/>
        </p:nvSpPr>
        <p:spPr>
          <a:xfrm>
            <a:off x="758880" y="1901880"/>
            <a:ext cx="1865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СРАВНИТЬ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2871000" y="2020680"/>
            <a:ext cx="466560" cy="360"/>
          </a:xfrm>
          <a:prstGeom prst="line">
            <a:avLst/>
          </a:prstGeom>
          <a:ln w="27940">
            <a:solidFill>
              <a:srgbClr val="246B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6" name="Text 7"/>
          <p:cNvSpPr/>
          <p:nvPr/>
        </p:nvSpPr>
        <p:spPr>
          <a:xfrm>
            <a:off x="3520440" y="185616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запускает сверку и обновляет сообщения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10771560" y="1847160"/>
            <a:ext cx="347040" cy="347040"/>
          </a:xfrm>
          <a:prstGeom prst="ellipse">
            <a:avLst/>
          </a:prstGeom>
          <a:solidFill>
            <a:srgbClr val="F2C55C"/>
          </a:solidFill>
          <a:ln w="12700">
            <a:solidFill>
              <a:srgbClr val="F2C5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8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851480" y="192348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9"/>
          <p:cNvSpPr/>
          <p:nvPr/>
        </p:nvSpPr>
        <p:spPr>
          <a:xfrm>
            <a:off x="9144000" y="18745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кнопка по умолчанию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0"/>
          <p:cNvSpPr/>
          <p:nvPr/>
        </p:nvSpPr>
        <p:spPr>
          <a:xfrm>
            <a:off x="475560" y="2926080"/>
            <a:ext cx="208440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640080" y="3136320"/>
            <a:ext cx="383760" cy="38376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2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28280" y="32209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12"/>
          <p:cNvSpPr/>
          <p:nvPr/>
        </p:nvSpPr>
        <p:spPr>
          <a:xfrm>
            <a:off x="2048400" y="3090600"/>
            <a:ext cx="310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640080" y="365760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Сообщения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640080" y="416952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увидеть расхождения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2560320" y="3968280"/>
            <a:ext cx="173520" cy="360"/>
          </a:xfrm>
          <a:prstGeom prst="line">
            <a:avLst/>
          </a:prstGeom>
          <a:ln w="22860">
            <a:solidFill>
              <a:srgbClr val="D5DE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7" name="Shape 16"/>
          <p:cNvSpPr/>
          <p:nvPr/>
        </p:nvSpPr>
        <p:spPr>
          <a:xfrm>
            <a:off x="2770560" y="2926080"/>
            <a:ext cx="208440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2935080" y="3136320"/>
            <a:ext cx="383760" cy="38376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9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023640" y="32209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8"/>
          <p:cNvSpPr/>
          <p:nvPr/>
        </p:nvSpPr>
        <p:spPr>
          <a:xfrm>
            <a:off x="4343400" y="3090600"/>
            <a:ext cx="310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98C3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2935080" y="365760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Коды организаций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0"/>
          <p:cNvSpPr/>
          <p:nvPr/>
        </p:nvSpPr>
        <p:spPr>
          <a:xfrm>
            <a:off x="2935080" y="416952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сопоставить код ↔ ГУИД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1"/>
          <p:cNvSpPr/>
          <p:nvPr/>
        </p:nvSpPr>
        <p:spPr>
          <a:xfrm>
            <a:off x="4855320" y="3968280"/>
            <a:ext cx="173880" cy="360"/>
          </a:xfrm>
          <a:prstGeom prst="line">
            <a:avLst/>
          </a:prstGeom>
          <a:ln w="22860">
            <a:solidFill>
              <a:srgbClr val="D5DE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4" name="Shape 22"/>
          <p:cNvSpPr/>
          <p:nvPr/>
        </p:nvSpPr>
        <p:spPr>
          <a:xfrm>
            <a:off x="5065920" y="2926080"/>
            <a:ext cx="208440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5" name="Shape 23"/>
          <p:cNvSpPr/>
          <p:nvPr/>
        </p:nvSpPr>
        <p:spPr>
          <a:xfrm>
            <a:off x="5230440" y="3136320"/>
            <a:ext cx="383760" cy="38376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16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318640" y="32209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24"/>
          <p:cNvSpPr/>
          <p:nvPr/>
        </p:nvSpPr>
        <p:spPr>
          <a:xfrm>
            <a:off x="6638400" y="3090600"/>
            <a:ext cx="310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5230440" y="365760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Объекты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5230440" y="416952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выбрать что и как сверять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7"/>
          <p:cNvSpPr/>
          <p:nvPr/>
        </p:nvSpPr>
        <p:spPr>
          <a:xfrm>
            <a:off x="7150320" y="3968280"/>
            <a:ext cx="173880" cy="360"/>
          </a:xfrm>
          <a:prstGeom prst="line">
            <a:avLst/>
          </a:prstGeom>
          <a:ln w="22860">
            <a:solidFill>
              <a:srgbClr val="D5DE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1" name="Shape 28"/>
          <p:cNvSpPr/>
          <p:nvPr/>
        </p:nvSpPr>
        <p:spPr>
          <a:xfrm>
            <a:off x="7360920" y="2926080"/>
            <a:ext cx="208440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2" name="Shape 29"/>
          <p:cNvSpPr/>
          <p:nvPr/>
        </p:nvSpPr>
        <p:spPr>
          <a:xfrm>
            <a:off x="7525440" y="3136320"/>
            <a:ext cx="383760" cy="38376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23" name="Image 4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614000" y="32209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30"/>
          <p:cNvSpPr/>
          <p:nvPr/>
        </p:nvSpPr>
        <p:spPr>
          <a:xfrm>
            <a:off x="8933760" y="3090600"/>
            <a:ext cx="310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8B7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7525440" y="365760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Параметры баз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7525440" y="416952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адреса, узлы, публикации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9445680" y="3968280"/>
            <a:ext cx="173520" cy="360"/>
          </a:xfrm>
          <a:prstGeom prst="line">
            <a:avLst/>
          </a:prstGeom>
          <a:ln w="22860">
            <a:solidFill>
              <a:srgbClr val="D5DE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8" name="Shape 34"/>
          <p:cNvSpPr/>
          <p:nvPr/>
        </p:nvSpPr>
        <p:spPr>
          <a:xfrm>
            <a:off x="9655920" y="2926080"/>
            <a:ext cx="2084400" cy="20570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9" name="Shape 35"/>
          <p:cNvSpPr/>
          <p:nvPr/>
        </p:nvSpPr>
        <p:spPr>
          <a:xfrm>
            <a:off x="9820800" y="3136320"/>
            <a:ext cx="383760" cy="383760"/>
          </a:xfrm>
          <a:prstGeom prst="ellipse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30" name="Image 5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9909000" y="32209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36"/>
          <p:cNvSpPr/>
          <p:nvPr/>
        </p:nvSpPr>
        <p:spPr>
          <a:xfrm>
            <a:off x="11228760" y="3090600"/>
            <a:ext cx="310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7"/>
          <p:cNvSpPr/>
          <p:nvPr/>
        </p:nvSpPr>
        <p:spPr>
          <a:xfrm>
            <a:off x="9820800" y="365760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Настройки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8"/>
          <p:cNvSpPr/>
          <p:nvPr/>
        </p:nvSpPr>
        <p:spPr>
          <a:xfrm>
            <a:off x="9820800" y="416952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общий логин и пароль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9"/>
          <p:cNvSpPr/>
          <p:nvPr/>
        </p:nvSpPr>
        <p:spPr>
          <a:xfrm>
            <a:off x="475560" y="5303520"/>
            <a:ext cx="11265120" cy="685440"/>
          </a:xfrm>
          <a:prstGeom prst="roundRect">
            <a:avLst>
              <a:gd name="adj" fmla="val 16000"/>
            </a:avLst>
          </a:prstGeom>
          <a:solidFill>
            <a:srgbClr val="E7F1F7"/>
          </a:solidFill>
          <a:ln w="12700">
            <a:solidFill>
              <a:srgbClr val="CFDF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35" name="Image 6" descr="preencoded.png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713160" y="54954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40"/>
          <p:cNvSpPr/>
          <p:nvPr/>
        </p:nvSpPr>
        <p:spPr>
          <a:xfrm>
            <a:off x="1078920" y="5431680"/>
            <a:ext cx="10286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Все четыре списка поддерживают поиск и пользовательские настройки; записи можно редактировать прямо в форме.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sldNum" idx="6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56C3A9-6C77-45F6-9448-5A98CF87EAED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СООБЩЕНИЯ СИНХРОНИЗАЦИИ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Из расхождения — в понятное действие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Первая страница — рабочий центр: здесь видно проблему и отсюда запускаются дальнейшие шаги.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457200" y="1572840"/>
            <a:ext cx="7543440" cy="3428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694800" y="175572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Сообщения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4224600" y="1710000"/>
            <a:ext cx="1755360" cy="292320"/>
          </a:xfrm>
          <a:prstGeom prst="roundRect">
            <a:avLst>
              <a:gd name="adj" fmla="val 50000"/>
            </a:avLst>
          </a:prstGeom>
          <a:solidFill>
            <a:srgbClr val="EAF1F5"/>
          </a:solidFill>
          <a:ln w="12700">
            <a:solidFill>
              <a:srgbClr val="EAF1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4297680" y="1728360"/>
            <a:ext cx="16088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Получить «объект не найден»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6053400" y="1710000"/>
            <a:ext cx="1700280" cy="292320"/>
          </a:xfrm>
          <a:prstGeom prst="roundRect">
            <a:avLst>
              <a:gd name="adj" fmla="val 50000"/>
            </a:avLst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6126480" y="1728360"/>
            <a:ext cx="15541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Зарегистрировать к обмену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685800" y="2221920"/>
            <a:ext cx="1188360" cy="38376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740520" y="230436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База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1901880" y="2221920"/>
            <a:ext cx="1096920" cy="38376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1956960" y="230436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Тип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3081600" y="2221920"/>
            <a:ext cx="1188360" cy="38376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3136320" y="230436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Вид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4316040" y="2221920"/>
            <a:ext cx="2057040" cy="38376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4370760" y="2304360"/>
            <a:ext cx="1947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Сообщение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6428160" y="2221920"/>
            <a:ext cx="1188360" cy="38376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6483240" y="230436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Дата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9"/>
          <p:cNvSpPr/>
          <p:nvPr/>
        </p:nvSpPr>
        <p:spPr>
          <a:xfrm>
            <a:off x="685800" y="2606040"/>
            <a:ext cx="1188360" cy="502560"/>
          </a:xfrm>
          <a:prstGeom prst="rect">
            <a:avLst/>
          </a:prstGeom>
          <a:solidFill>
            <a:srgbClr val="F5F8FA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740520" y="2670120"/>
            <a:ext cx="1078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HRM-NOVA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1"/>
          <p:cNvSpPr/>
          <p:nvPr/>
        </p:nvSpPr>
        <p:spPr>
          <a:xfrm>
            <a:off x="1901880" y="2606040"/>
            <a:ext cx="1096920" cy="502560"/>
          </a:xfrm>
          <a:prstGeom prst="rect">
            <a:avLst/>
          </a:prstGeom>
          <a:solidFill>
            <a:srgbClr val="F5F8FA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0" name="Text 22"/>
          <p:cNvSpPr/>
          <p:nvPr/>
        </p:nvSpPr>
        <p:spPr>
          <a:xfrm>
            <a:off x="1956960" y="2670120"/>
            <a:ext cx="987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Регистр сведений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3"/>
          <p:cNvSpPr/>
          <p:nvPr/>
        </p:nvSpPr>
        <p:spPr>
          <a:xfrm>
            <a:off x="3081600" y="2606040"/>
            <a:ext cx="1188360" cy="502560"/>
          </a:xfrm>
          <a:prstGeom prst="rect">
            <a:avLst/>
          </a:prstGeom>
          <a:solidFill>
            <a:srgbClr val="F5F8FA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2" name="Text 24"/>
          <p:cNvSpPr/>
          <p:nvPr/>
        </p:nvSpPr>
        <p:spPr>
          <a:xfrm>
            <a:off x="3136320" y="2670120"/>
            <a:ext cx="1078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ФИО физических лиц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5"/>
          <p:cNvSpPr/>
          <p:nvPr/>
        </p:nvSpPr>
        <p:spPr>
          <a:xfrm>
            <a:off x="4316040" y="2606040"/>
            <a:ext cx="2057040" cy="502560"/>
          </a:xfrm>
          <a:prstGeom prst="rect">
            <a:avLst/>
          </a:prstGeom>
          <a:solidFill>
            <a:srgbClr val="F5F8FA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4" name="Text 26"/>
          <p:cNvSpPr/>
          <p:nvPr/>
        </p:nvSpPr>
        <p:spPr>
          <a:xfrm>
            <a:off x="4370760" y="2670120"/>
            <a:ext cx="194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В&lt;Л · &lt;Объект не найден&gt; …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7"/>
          <p:cNvSpPr/>
          <p:nvPr/>
        </p:nvSpPr>
        <p:spPr>
          <a:xfrm>
            <a:off x="6428160" y="2606040"/>
            <a:ext cx="1188360" cy="502560"/>
          </a:xfrm>
          <a:prstGeom prst="rect">
            <a:avLst/>
          </a:prstGeom>
          <a:solidFill>
            <a:srgbClr val="F5F8FA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6" name="Text 28"/>
          <p:cNvSpPr/>
          <p:nvPr/>
        </p:nvSpPr>
        <p:spPr>
          <a:xfrm>
            <a:off x="6483240" y="2670120"/>
            <a:ext cx="1078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14.10 15:48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9"/>
          <p:cNvSpPr/>
          <p:nvPr/>
        </p:nvSpPr>
        <p:spPr>
          <a:xfrm>
            <a:off x="685800" y="3108960"/>
            <a:ext cx="1188360" cy="502560"/>
          </a:xfrm>
          <a:prstGeom prst="rect">
            <a:avLst/>
          </a:prstGeom>
          <a:solidFill>
            <a:srgbClr val="EBF1F5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8" name="Text 30"/>
          <p:cNvSpPr/>
          <p:nvPr/>
        </p:nvSpPr>
        <p:spPr>
          <a:xfrm>
            <a:off x="740520" y="3173040"/>
            <a:ext cx="1078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HRM-NOVA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1"/>
          <p:cNvSpPr/>
          <p:nvPr/>
        </p:nvSpPr>
        <p:spPr>
          <a:xfrm>
            <a:off x="1901880" y="3108960"/>
            <a:ext cx="1096920" cy="502560"/>
          </a:xfrm>
          <a:prstGeom prst="rect">
            <a:avLst/>
          </a:prstGeom>
          <a:solidFill>
            <a:srgbClr val="EBF1F5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0" name="Text 32"/>
          <p:cNvSpPr/>
          <p:nvPr/>
        </p:nvSpPr>
        <p:spPr>
          <a:xfrm>
            <a:off x="1956960" y="3173040"/>
            <a:ext cx="987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Справочник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3"/>
          <p:cNvSpPr/>
          <p:nvPr/>
        </p:nvSpPr>
        <p:spPr>
          <a:xfrm>
            <a:off x="3081600" y="3108960"/>
            <a:ext cx="1188360" cy="502560"/>
          </a:xfrm>
          <a:prstGeom prst="rect">
            <a:avLst/>
          </a:prstGeom>
          <a:solidFill>
            <a:srgbClr val="EBF1F5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2" name="Text 34"/>
          <p:cNvSpPr/>
          <p:nvPr/>
        </p:nvSpPr>
        <p:spPr>
          <a:xfrm>
            <a:off x="3136320" y="3173040"/>
            <a:ext cx="1078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Сотрудники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5"/>
          <p:cNvSpPr/>
          <p:nvPr/>
        </p:nvSpPr>
        <p:spPr>
          <a:xfrm>
            <a:off x="4316040" y="3108960"/>
            <a:ext cx="2057040" cy="502560"/>
          </a:xfrm>
          <a:prstGeom prst="rect">
            <a:avLst/>
          </a:prstGeom>
          <a:solidFill>
            <a:srgbClr val="EBF1F5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4" name="Text 36"/>
          <p:cNvSpPr/>
          <p:nvPr/>
        </p:nvSpPr>
        <p:spPr>
          <a:xfrm>
            <a:off x="4370760" y="3173040"/>
            <a:ext cx="194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В&lt;Л · &lt;Объект не найден&gt; (…)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7"/>
          <p:cNvSpPr/>
          <p:nvPr/>
        </p:nvSpPr>
        <p:spPr>
          <a:xfrm>
            <a:off x="6428160" y="3108960"/>
            <a:ext cx="1188360" cy="502560"/>
          </a:xfrm>
          <a:prstGeom prst="rect">
            <a:avLst/>
          </a:prstGeom>
          <a:solidFill>
            <a:srgbClr val="EBF1F5"/>
          </a:solidFill>
          <a:ln w="7620">
            <a:solidFill>
              <a:srgbClr val="DDE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6" name="Text 38"/>
          <p:cNvSpPr/>
          <p:nvPr/>
        </p:nvSpPr>
        <p:spPr>
          <a:xfrm>
            <a:off x="6483240" y="3173040"/>
            <a:ext cx="1078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14.10 15:48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9"/>
          <p:cNvSpPr/>
          <p:nvPr/>
        </p:nvSpPr>
        <p:spPr>
          <a:xfrm>
            <a:off x="676800" y="3950280"/>
            <a:ext cx="7131960" cy="685440"/>
          </a:xfrm>
          <a:prstGeom prst="roundRect">
            <a:avLst>
              <a:gd name="adj" fmla="val 16000"/>
            </a:avLst>
          </a:prstGeom>
          <a:solidFill>
            <a:srgbClr val="FBF4E2"/>
          </a:solidFill>
          <a:ln w="12700">
            <a:solidFill>
              <a:srgbClr val="E8DAB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78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87040" y="41605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40"/>
          <p:cNvSpPr/>
          <p:nvPr/>
        </p:nvSpPr>
        <p:spPr>
          <a:xfrm>
            <a:off x="1225440" y="4060080"/>
            <a:ext cx="6309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Кнопки берут базу текущей строки, но дальше обрабатывают все сообщения этой базы.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41"/>
          <p:cNvSpPr/>
          <p:nvPr/>
        </p:nvSpPr>
        <p:spPr>
          <a:xfrm>
            <a:off x="8275320" y="1572840"/>
            <a:ext cx="3456000" cy="3428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1" name="Text 42"/>
          <p:cNvSpPr/>
          <p:nvPr/>
        </p:nvSpPr>
        <p:spPr>
          <a:xfrm>
            <a:off x="8549640" y="18104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ЧТО ДЕЛАТЬ ДАЛЬШЕ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3"/>
          <p:cNvSpPr/>
          <p:nvPr/>
        </p:nvSpPr>
        <p:spPr>
          <a:xfrm>
            <a:off x="8558640" y="2240280"/>
            <a:ext cx="328680" cy="32868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83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34600" y="2312640"/>
            <a:ext cx="17748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44"/>
          <p:cNvSpPr/>
          <p:nvPr/>
        </p:nvSpPr>
        <p:spPr>
          <a:xfrm>
            <a:off x="9015840" y="223128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1. Выбрать строку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5"/>
          <p:cNvSpPr/>
          <p:nvPr/>
        </p:nvSpPr>
        <p:spPr>
          <a:xfrm>
            <a:off x="9015840" y="2505600"/>
            <a:ext cx="2239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задаём нужную базу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6"/>
          <p:cNvSpPr/>
          <p:nvPr/>
        </p:nvSpPr>
        <p:spPr>
          <a:xfrm>
            <a:off x="8723160" y="2587680"/>
            <a:ext cx="360" cy="329040"/>
          </a:xfrm>
          <a:prstGeom prst="line">
            <a:avLst/>
          </a:prstGeom>
          <a:ln w="20320">
            <a:solidFill>
              <a:srgbClr val="B7C4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7" name="Shape 47"/>
          <p:cNvSpPr/>
          <p:nvPr/>
        </p:nvSpPr>
        <p:spPr>
          <a:xfrm>
            <a:off x="8558640" y="3026520"/>
            <a:ext cx="328680" cy="32868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88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634600" y="3099240"/>
            <a:ext cx="17748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48"/>
          <p:cNvSpPr/>
          <p:nvPr/>
        </p:nvSpPr>
        <p:spPr>
          <a:xfrm>
            <a:off x="9015840" y="301752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2. Получить список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9"/>
          <p:cNvSpPr/>
          <p:nvPr/>
        </p:nvSpPr>
        <p:spPr>
          <a:xfrm>
            <a:off x="9015840" y="3291840"/>
            <a:ext cx="2239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разобрать отсутствующие ссылки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50"/>
          <p:cNvSpPr/>
          <p:nvPr/>
        </p:nvSpPr>
        <p:spPr>
          <a:xfrm>
            <a:off x="8723160" y="3373920"/>
            <a:ext cx="360" cy="329400"/>
          </a:xfrm>
          <a:prstGeom prst="line">
            <a:avLst/>
          </a:prstGeom>
          <a:ln w="20320">
            <a:solidFill>
              <a:srgbClr val="B7C4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2" name="Shape 51"/>
          <p:cNvSpPr/>
          <p:nvPr/>
        </p:nvSpPr>
        <p:spPr>
          <a:xfrm>
            <a:off x="8558640" y="3813120"/>
            <a:ext cx="328680" cy="32868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93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634600" y="3885480"/>
            <a:ext cx="17748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52"/>
          <p:cNvSpPr/>
          <p:nvPr/>
        </p:nvSpPr>
        <p:spPr>
          <a:xfrm>
            <a:off x="9015840" y="380376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3. Зарегистрировать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3"/>
          <p:cNvSpPr/>
          <p:nvPr/>
        </p:nvSpPr>
        <p:spPr>
          <a:xfrm>
            <a:off x="9015840" y="4078080"/>
            <a:ext cx="2239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попросить низ включить объект в обмен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4"/>
          <p:cNvSpPr/>
          <p:nvPr/>
        </p:nvSpPr>
        <p:spPr>
          <a:xfrm>
            <a:off x="8568000" y="5321880"/>
            <a:ext cx="2395440" cy="292320"/>
          </a:xfrm>
          <a:prstGeom prst="roundRect">
            <a:avLst>
              <a:gd name="adj" fmla="val 50000"/>
            </a:avLst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7" name="Text 55"/>
          <p:cNvSpPr/>
          <p:nvPr/>
        </p:nvSpPr>
        <p:spPr>
          <a:xfrm>
            <a:off x="8641080" y="5340240"/>
            <a:ext cx="22489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Это не журнал истории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6"/>
          <p:cNvSpPr/>
          <p:nvPr/>
        </p:nvSpPr>
        <p:spPr>
          <a:xfrm>
            <a:off x="8467200" y="5715000"/>
            <a:ext cx="283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После нового запуска набор сообщений перезаписывается.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sldNum" idx="7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71A67A-4352-4378-B8AD-2ED71524A21D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СВЕРКА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Что происходит после нажатия «Сравнить»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Девять шагов удобно читать как три фазы: подготовка → сравнение → запись результата.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502920" y="1627560"/>
            <a:ext cx="3154320" cy="292320"/>
          </a:xfrm>
          <a:prstGeom prst="roundRect">
            <a:avLst>
              <a:gd name="adj" fmla="val 50000"/>
            </a:avLst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576000" y="1645920"/>
            <a:ext cx="300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 · ПОДГОТОВКА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3822120" y="1627560"/>
            <a:ext cx="4571640" cy="292320"/>
          </a:xfrm>
          <a:prstGeom prst="roundRect">
            <a:avLst>
              <a:gd name="adj" fmla="val 50000"/>
            </a:avLst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3895200" y="1645920"/>
            <a:ext cx="4425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 · СРАВНЕНИЕ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8558640" y="1627560"/>
            <a:ext cx="3172680" cy="292320"/>
          </a:xfrm>
          <a:prstGeom prst="roundRect">
            <a:avLst>
              <a:gd name="adj" fmla="val 50000"/>
            </a:avLst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8632080" y="1645920"/>
            <a:ext cx="3026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 · РЕЗУЛЬТАТ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567000" y="221292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0" name="Shape 10"/>
          <p:cNvSpPr/>
          <p:nvPr/>
        </p:nvSpPr>
        <p:spPr>
          <a:xfrm>
            <a:off x="713160" y="2377440"/>
            <a:ext cx="292320" cy="29232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713160" y="240048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1134000" y="231336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Отобрать базы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1134000" y="256932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код организации + узел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567000" y="315468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5" name="Shape 15"/>
          <p:cNvSpPr/>
          <p:nvPr/>
        </p:nvSpPr>
        <p:spPr>
          <a:xfrm>
            <a:off x="713160" y="3319200"/>
            <a:ext cx="292320" cy="29232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713160" y="334224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1134000" y="32551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Открыть HTTP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1134000" y="351144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одно соединение на базу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9"/>
          <p:cNvSpPr/>
          <p:nvPr/>
        </p:nvSpPr>
        <p:spPr>
          <a:xfrm>
            <a:off x="567000" y="409644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0" name="Shape 20"/>
          <p:cNvSpPr/>
          <p:nvPr/>
        </p:nvSpPr>
        <p:spPr>
          <a:xfrm>
            <a:off x="713160" y="4260960"/>
            <a:ext cx="292320" cy="29232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713160" y="428400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1134000" y="41972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Собрать соответствия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1134000" y="445320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по наименованию узла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4"/>
          <p:cNvSpPr/>
          <p:nvPr/>
        </p:nvSpPr>
        <p:spPr>
          <a:xfrm>
            <a:off x="567000" y="503820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5" name="Shape 25"/>
          <p:cNvSpPr/>
          <p:nvPr/>
        </p:nvSpPr>
        <p:spPr>
          <a:xfrm>
            <a:off x="713160" y="5203080"/>
            <a:ext cx="292320" cy="29232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6" name="Text 26"/>
          <p:cNvSpPr/>
          <p:nvPr/>
        </p:nvSpPr>
        <p:spPr>
          <a:xfrm>
            <a:off x="713160" y="522576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7"/>
          <p:cNvSpPr/>
          <p:nvPr/>
        </p:nvSpPr>
        <p:spPr>
          <a:xfrm>
            <a:off x="1134000" y="513900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Выбрать объекты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1134000" y="539496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только Выбран = Истина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9"/>
          <p:cNvSpPr/>
          <p:nvPr/>
        </p:nvSpPr>
        <p:spPr>
          <a:xfrm>
            <a:off x="3886200" y="221292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0" name="Shape 30"/>
          <p:cNvSpPr/>
          <p:nvPr/>
        </p:nvSpPr>
        <p:spPr>
          <a:xfrm>
            <a:off x="4032360" y="2377440"/>
            <a:ext cx="292320" cy="29232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1" name="Text 31"/>
          <p:cNvSpPr/>
          <p:nvPr/>
        </p:nvSpPr>
        <p:spPr>
          <a:xfrm>
            <a:off x="4032360" y="240048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2"/>
          <p:cNvSpPr/>
          <p:nvPr/>
        </p:nvSpPr>
        <p:spPr>
          <a:xfrm>
            <a:off x="4453200" y="231336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Получить локальные ключи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3"/>
          <p:cNvSpPr/>
          <p:nvPr/>
        </p:nvSpPr>
        <p:spPr>
          <a:xfrm>
            <a:off x="4453200" y="256932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Организация через Орг(код)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4"/>
          <p:cNvSpPr/>
          <p:nvPr/>
        </p:nvSpPr>
        <p:spPr>
          <a:xfrm>
            <a:off x="3886200" y="315468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5" name="Shape 35"/>
          <p:cNvSpPr/>
          <p:nvPr/>
        </p:nvSpPr>
        <p:spPr>
          <a:xfrm>
            <a:off x="4032360" y="3319200"/>
            <a:ext cx="292320" cy="29232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6" name="Text 36"/>
          <p:cNvSpPr/>
          <p:nvPr/>
        </p:nvSpPr>
        <p:spPr>
          <a:xfrm>
            <a:off x="4032360" y="334224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7"/>
          <p:cNvSpPr/>
          <p:nvPr/>
        </p:nvSpPr>
        <p:spPr>
          <a:xfrm>
            <a:off x="4453200" y="32551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Запросить низ пакетами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8"/>
          <p:cNvSpPr/>
          <p:nvPr/>
        </p:nvSpPr>
        <p:spPr>
          <a:xfrm>
            <a:off x="4453200" y="351144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до 8 запросов за вызов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9"/>
          <p:cNvSpPr/>
          <p:nvPr/>
        </p:nvSpPr>
        <p:spPr>
          <a:xfrm>
            <a:off x="3886200" y="409644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0" name="Shape 40"/>
          <p:cNvSpPr/>
          <p:nvPr/>
        </p:nvSpPr>
        <p:spPr>
          <a:xfrm>
            <a:off x="4032360" y="4260960"/>
            <a:ext cx="292320" cy="29232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1" name="Text 41"/>
          <p:cNvSpPr/>
          <p:nvPr/>
        </p:nvSpPr>
        <p:spPr>
          <a:xfrm>
            <a:off x="4032360" y="428400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2"/>
          <p:cNvSpPr/>
          <p:nvPr/>
        </p:nvSpPr>
        <p:spPr>
          <a:xfrm>
            <a:off x="4453200" y="41972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Fallback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43"/>
          <p:cNvSpPr/>
          <p:nvPr/>
        </p:nvSpPr>
        <p:spPr>
          <a:xfrm>
            <a:off x="4453200" y="445320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если пакет недоступен — по одному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44"/>
          <p:cNvSpPr/>
          <p:nvPr/>
        </p:nvSpPr>
        <p:spPr>
          <a:xfrm>
            <a:off x="3886200" y="503820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5" name="Shape 45"/>
          <p:cNvSpPr/>
          <p:nvPr/>
        </p:nvSpPr>
        <p:spPr>
          <a:xfrm>
            <a:off x="4032360" y="5203080"/>
            <a:ext cx="292320" cy="29232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6" name="Text 46"/>
          <p:cNvSpPr/>
          <p:nvPr/>
        </p:nvSpPr>
        <p:spPr>
          <a:xfrm>
            <a:off x="4032360" y="522576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7"/>
          <p:cNvSpPr/>
          <p:nvPr/>
        </p:nvSpPr>
        <p:spPr>
          <a:xfrm>
            <a:off x="4453200" y="513900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Найти В&lt;Л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48"/>
          <p:cNvSpPr/>
          <p:nvPr/>
        </p:nvSpPr>
        <p:spPr>
          <a:xfrm>
            <a:off x="4453200" y="539496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ключ есть внизу, нет наверху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9"/>
          <p:cNvSpPr/>
          <p:nvPr/>
        </p:nvSpPr>
        <p:spPr>
          <a:xfrm>
            <a:off x="8622720" y="2926080"/>
            <a:ext cx="274284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0" name="Shape 50"/>
          <p:cNvSpPr/>
          <p:nvPr/>
        </p:nvSpPr>
        <p:spPr>
          <a:xfrm>
            <a:off x="8769240" y="3090600"/>
            <a:ext cx="292320" cy="292320"/>
          </a:xfrm>
          <a:prstGeom prst="ellipse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1" name="Text 51"/>
          <p:cNvSpPr/>
          <p:nvPr/>
        </p:nvSpPr>
        <p:spPr>
          <a:xfrm>
            <a:off x="8769240" y="3113640"/>
            <a:ext cx="2923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2"/>
          <p:cNvSpPr/>
          <p:nvPr/>
        </p:nvSpPr>
        <p:spPr>
          <a:xfrm>
            <a:off x="9189720" y="3026520"/>
            <a:ext cx="1919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Заменить регистр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3"/>
          <p:cNvSpPr/>
          <p:nvPr/>
        </p:nvSpPr>
        <p:spPr>
          <a:xfrm>
            <a:off x="9189720" y="328284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набор пишется без отбора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54"/>
          <p:cNvSpPr/>
          <p:nvPr/>
        </p:nvSpPr>
        <p:spPr>
          <a:xfrm>
            <a:off x="8622720" y="3950280"/>
            <a:ext cx="2742840" cy="914040"/>
          </a:xfrm>
          <a:prstGeom prst="roundRect">
            <a:avLst>
              <a:gd name="adj" fmla="val 12000"/>
            </a:avLst>
          </a:prstGeom>
          <a:solidFill>
            <a:srgbClr val="F8ECEC"/>
          </a:solidFill>
          <a:ln w="12700">
            <a:solidFill>
              <a:srgbClr val="E8C6C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55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869680" y="41878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55"/>
          <p:cNvSpPr/>
          <p:nvPr/>
        </p:nvSpPr>
        <p:spPr>
          <a:xfrm>
            <a:off x="9217080" y="406008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База недоступна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6"/>
          <p:cNvSpPr/>
          <p:nvPr/>
        </p:nvSpPr>
        <p:spPr>
          <a:xfrm>
            <a:off x="9217080" y="430668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она пропускается, но старые сообщения всё равно исчезнут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7"/>
          <p:cNvSpPr/>
          <p:nvPr/>
        </p:nvSpPr>
        <p:spPr>
          <a:xfrm>
            <a:off x="8622720" y="5047560"/>
            <a:ext cx="2742840" cy="859320"/>
          </a:xfrm>
          <a:prstGeom prst="roundRect">
            <a:avLst>
              <a:gd name="adj" fmla="val 12766"/>
            </a:avLst>
          </a:prstGeom>
          <a:solidFill>
            <a:srgbClr val="FBF4E2"/>
          </a:solidFill>
          <a:ln w="12700">
            <a:solidFill>
              <a:srgbClr val="E8DAB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59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869680" y="528516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Text 58"/>
          <p:cNvSpPr/>
          <p:nvPr/>
        </p:nvSpPr>
        <p:spPr>
          <a:xfrm>
            <a:off x="9217080" y="516636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D98C3F"/>
                </a:solidFill>
                <a:effectLst/>
                <a:uFillTx/>
                <a:latin typeface="Aptos"/>
                <a:ea typeface="Aptos"/>
              </a:rPr>
              <a:t>Ошибка объекта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9"/>
          <p:cNvSpPr/>
          <p:nvPr/>
        </p:nvSpPr>
        <p:spPr>
          <a:xfrm>
            <a:off x="9217080" y="541332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пишется в журнал и не останавливает остальные объекты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sldNum" idx="8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44179D-9FC1-44AA-B679-9A3017A93E6E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5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ОБЪЕКТ НЕ НАЙДЕН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Как техническое сообщение превращается в список для разбора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Кнопка вытаскивает уникальные фрагменты и делает их читабельными для разработчика.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457200" y="1664280"/>
            <a:ext cx="3017160" cy="2102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713160" y="185616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ИСХОДНОЕ СООБЩЕНИЕ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713160" y="2240280"/>
            <a:ext cx="2486880" cy="566640"/>
          </a:xfrm>
          <a:prstGeom prst="roundRect">
            <a:avLst>
              <a:gd name="adj" fmla="val 12903"/>
            </a:avLst>
          </a:prstGeom>
          <a:solidFill>
            <a:srgbClr val="EEF3F6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822960" y="2267640"/>
            <a:ext cx="226728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В&lt;Л | &lt;Объект не найден&gt; (702:…)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713160" y="2999160"/>
            <a:ext cx="2422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+ служебные значения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+ #ОТБОР# для регистра сведений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3547800" y="2697480"/>
            <a:ext cx="859320" cy="360"/>
          </a:xfrm>
          <a:prstGeom prst="line">
            <a:avLst/>
          </a:prstGeom>
          <a:ln w="29210">
            <a:solidFill>
              <a:srgbClr val="246B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3803760" y="2340720"/>
            <a:ext cx="347040" cy="34704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73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883680" y="241740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10"/>
          <p:cNvSpPr/>
          <p:nvPr/>
        </p:nvSpPr>
        <p:spPr>
          <a:xfrm>
            <a:off x="3684960" y="2825640"/>
            <a:ext cx="712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извлечь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и схлопнуть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1"/>
          <p:cNvSpPr/>
          <p:nvPr/>
        </p:nvSpPr>
        <p:spPr>
          <a:xfrm>
            <a:off x="4526280" y="1664280"/>
            <a:ext cx="7205040" cy="2102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6" name="Text 12"/>
          <p:cNvSpPr/>
          <p:nvPr/>
        </p:nvSpPr>
        <p:spPr>
          <a:xfrm>
            <a:off x="4782240" y="185616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РЕЗУЛЬТАТЫ ОБРАБОТКИ СООБЩЕНИЙ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4773240" y="2176200"/>
            <a:ext cx="365400" cy="36540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4809600" y="2249280"/>
            <a:ext cx="292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№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5184720" y="2176200"/>
            <a:ext cx="2212560" cy="36540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5221080" y="2249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Извлечено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7452360" y="2176200"/>
            <a:ext cx="1901520" cy="36540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7489080" y="22492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Вид метаданных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9399960" y="2176200"/>
            <a:ext cx="1965600" cy="365400"/>
          </a:xfrm>
          <a:prstGeom prst="rect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4" name="Text 20"/>
          <p:cNvSpPr/>
          <p:nvPr/>
        </p:nvSpPr>
        <p:spPr>
          <a:xfrm>
            <a:off x="9436680" y="2249280"/>
            <a:ext cx="189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Представление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1"/>
          <p:cNvSpPr/>
          <p:nvPr/>
        </p:nvSpPr>
        <p:spPr>
          <a:xfrm>
            <a:off x="4773240" y="2541960"/>
            <a:ext cx="365400" cy="493560"/>
          </a:xfrm>
          <a:prstGeom prst="rect">
            <a:avLst/>
          </a:prstGeom>
          <a:solidFill>
            <a:srgbClr val="F6F9FB"/>
          </a:solidFill>
          <a:ln w="7620">
            <a:solidFill>
              <a:srgbClr val="D9E2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4809600" y="2606040"/>
            <a:ext cx="292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5184720" y="2541960"/>
            <a:ext cx="2212560" cy="493560"/>
          </a:xfrm>
          <a:prstGeom prst="rect">
            <a:avLst/>
          </a:prstGeom>
          <a:solidFill>
            <a:srgbClr val="F6F9FB"/>
          </a:solidFill>
          <a:ln w="7620">
            <a:solidFill>
              <a:srgbClr val="D9E2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8" name="Text 24"/>
          <p:cNvSpPr/>
          <p:nvPr/>
        </p:nvSpPr>
        <p:spPr>
          <a:xfrm>
            <a:off x="5221080" y="2606040"/>
            <a:ext cx="2139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&lt;Объект не найден&gt; (702:…)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5"/>
          <p:cNvSpPr/>
          <p:nvPr/>
        </p:nvSpPr>
        <p:spPr>
          <a:xfrm>
            <a:off x="7452360" y="2541960"/>
            <a:ext cx="1901520" cy="493560"/>
          </a:xfrm>
          <a:prstGeom prst="rect">
            <a:avLst/>
          </a:prstGeom>
          <a:solidFill>
            <a:srgbClr val="F6F9FB"/>
          </a:solidFill>
          <a:ln w="7620">
            <a:solidFill>
              <a:srgbClr val="D9E2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0" name="Text 26"/>
          <p:cNvSpPr/>
          <p:nvPr/>
        </p:nvSpPr>
        <p:spPr>
          <a:xfrm>
            <a:off x="7489080" y="2606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Физические лица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7"/>
          <p:cNvSpPr/>
          <p:nvPr/>
        </p:nvSpPr>
        <p:spPr>
          <a:xfrm>
            <a:off x="9399960" y="2541960"/>
            <a:ext cx="1965600" cy="493560"/>
          </a:xfrm>
          <a:prstGeom prst="rect">
            <a:avLst/>
          </a:prstGeom>
          <a:solidFill>
            <a:srgbClr val="F6F9FB"/>
          </a:solidFill>
          <a:ln w="7620">
            <a:solidFill>
              <a:srgbClr val="D9E2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9436680" y="2606040"/>
            <a:ext cx="1892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представление из нижней базы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9"/>
          <p:cNvSpPr/>
          <p:nvPr/>
        </p:nvSpPr>
        <p:spPr>
          <a:xfrm>
            <a:off x="4773240" y="3035880"/>
            <a:ext cx="365400" cy="493560"/>
          </a:xfrm>
          <a:prstGeom prst="rect">
            <a:avLst/>
          </a:prstGeom>
          <a:solidFill>
            <a:srgbClr val="ECF2F6"/>
          </a:solidFill>
          <a:ln w="7620">
            <a:solidFill>
              <a:srgbClr val="D9E2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4" name="Text 30"/>
          <p:cNvSpPr/>
          <p:nvPr/>
        </p:nvSpPr>
        <p:spPr>
          <a:xfrm>
            <a:off x="4809600" y="3099960"/>
            <a:ext cx="292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1"/>
          <p:cNvSpPr/>
          <p:nvPr/>
        </p:nvSpPr>
        <p:spPr>
          <a:xfrm>
            <a:off x="5184720" y="3035880"/>
            <a:ext cx="2212560" cy="493560"/>
          </a:xfrm>
          <a:prstGeom prst="rect">
            <a:avLst/>
          </a:prstGeom>
          <a:solidFill>
            <a:srgbClr val="ECF2F6"/>
          </a:solidFill>
          <a:ln w="7620">
            <a:solidFill>
              <a:srgbClr val="D9E2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6" name="Text 32"/>
          <p:cNvSpPr/>
          <p:nvPr/>
        </p:nvSpPr>
        <p:spPr>
          <a:xfrm>
            <a:off x="5221080" y="3099960"/>
            <a:ext cx="2139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В&lt;Л | 31.12.1899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3"/>
          <p:cNvSpPr/>
          <p:nvPr/>
        </p:nvSpPr>
        <p:spPr>
          <a:xfrm>
            <a:off x="7452360" y="3035880"/>
            <a:ext cx="1901520" cy="493560"/>
          </a:xfrm>
          <a:prstGeom prst="rect">
            <a:avLst/>
          </a:prstGeom>
          <a:solidFill>
            <a:srgbClr val="ECF2F6"/>
          </a:solidFill>
          <a:ln w="7620">
            <a:solidFill>
              <a:srgbClr val="D9E2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8" name="Text 34"/>
          <p:cNvSpPr/>
          <p:nvPr/>
        </p:nvSpPr>
        <p:spPr>
          <a:xfrm>
            <a:off x="7489080" y="30999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ФИО физических лиц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5"/>
          <p:cNvSpPr/>
          <p:nvPr/>
        </p:nvSpPr>
        <p:spPr>
          <a:xfrm>
            <a:off x="9399960" y="3035880"/>
            <a:ext cx="1965600" cy="493560"/>
          </a:xfrm>
          <a:prstGeom prst="rect">
            <a:avLst/>
          </a:prstGeom>
          <a:solidFill>
            <a:srgbClr val="ECF2F6"/>
          </a:solidFill>
          <a:ln w="7620">
            <a:solidFill>
              <a:srgbClr val="D9E2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0" name="Text 36"/>
          <p:cNvSpPr/>
          <p:nvPr/>
        </p:nvSpPr>
        <p:spPr>
          <a:xfrm>
            <a:off x="9436680" y="3099960"/>
            <a:ext cx="1892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31.12.1899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37"/>
          <p:cNvSpPr/>
          <p:nvPr/>
        </p:nvSpPr>
        <p:spPr>
          <a:xfrm>
            <a:off x="457200" y="4160520"/>
            <a:ext cx="31910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2" name="Shape 38"/>
          <p:cNvSpPr/>
          <p:nvPr/>
        </p:nvSpPr>
        <p:spPr>
          <a:xfrm>
            <a:off x="640080" y="4389120"/>
            <a:ext cx="347040" cy="34704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03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20000" y="446544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Text 39"/>
          <p:cNvSpPr/>
          <p:nvPr/>
        </p:nvSpPr>
        <p:spPr>
          <a:xfrm>
            <a:off x="1115640" y="4288680"/>
            <a:ext cx="223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Одинаковые ссылки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схлопываются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0"/>
          <p:cNvSpPr/>
          <p:nvPr/>
        </p:nvSpPr>
        <p:spPr>
          <a:xfrm>
            <a:off x="640080" y="49467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один отсутствующий объект — одна строка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1"/>
          <p:cNvSpPr/>
          <p:nvPr/>
        </p:nvSpPr>
        <p:spPr>
          <a:xfrm>
            <a:off x="4041720" y="4160520"/>
            <a:ext cx="31910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7" name="Shape 42"/>
          <p:cNvSpPr/>
          <p:nvPr/>
        </p:nvSpPr>
        <p:spPr>
          <a:xfrm>
            <a:off x="4224600" y="4389120"/>
            <a:ext cx="347040" cy="34704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08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304520" y="446544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 43"/>
          <p:cNvSpPr/>
          <p:nvPr/>
        </p:nvSpPr>
        <p:spPr>
          <a:xfrm>
            <a:off x="4700160" y="4288680"/>
            <a:ext cx="223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Тип определяется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по коду ссылки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4"/>
          <p:cNvSpPr/>
          <p:nvPr/>
        </p:nvSpPr>
        <p:spPr>
          <a:xfrm>
            <a:off x="4224600" y="49467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ГУИД переставляется байтами и разрешается в метаданные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45"/>
          <p:cNvSpPr/>
          <p:nvPr/>
        </p:nvSpPr>
        <p:spPr>
          <a:xfrm>
            <a:off x="7626240" y="4160520"/>
            <a:ext cx="31910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2" name="Shape 46"/>
          <p:cNvSpPr/>
          <p:nvPr/>
        </p:nvSpPr>
        <p:spPr>
          <a:xfrm>
            <a:off x="7809120" y="4389120"/>
            <a:ext cx="347040" cy="34704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13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889040" y="446544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47"/>
          <p:cNvSpPr/>
          <p:nvPr/>
        </p:nvSpPr>
        <p:spPr>
          <a:xfrm>
            <a:off x="8284320" y="4288680"/>
            <a:ext cx="223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31.12.1899 — не ошибка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8"/>
          <p:cNvSpPr/>
          <p:nvPr/>
        </p:nvSpPr>
        <p:spPr>
          <a:xfrm>
            <a:off x="7809120" y="49467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это период ФИО; запись регистра отдельной строкой появляется не всегда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9"/>
          <p:cNvSpPr/>
          <p:nvPr/>
        </p:nvSpPr>
        <p:spPr>
          <a:xfrm>
            <a:off x="1993320" y="5925240"/>
            <a:ext cx="8210880" cy="292320"/>
          </a:xfrm>
          <a:prstGeom prst="roundRect">
            <a:avLst>
              <a:gd name="adj" fmla="val 50000"/>
            </a:avLst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7" name="Text 50"/>
          <p:cNvSpPr/>
          <p:nvPr/>
        </p:nvSpPr>
        <p:spPr>
          <a:xfrm>
            <a:off x="2066400" y="5943600"/>
            <a:ext cx="8064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Главная польза: сообщение становится объектом, который можно найти и исправить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sldNum" idx="9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EAFBC6-4166-4A3D-A3F1-C9378778FE56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РЕГИСТРАЦИЯ К ОБМЕНУ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Как обработка просит нижнюю базу «дослать» отсутствующее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Кнопка не переносит объект сама — она регистрирует его на стороне НЗ для ближайшего стандартного обмена.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"/>
          <p:cNvSpPr/>
          <p:nvPr/>
        </p:nvSpPr>
        <p:spPr>
          <a:xfrm>
            <a:off x="530280" y="1901880"/>
            <a:ext cx="205704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3" name="Shape 4"/>
          <p:cNvSpPr/>
          <p:nvPr/>
        </p:nvSpPr>
        <p:spPr>
          <a:xfrm>
            <a:off x="694800" y="2148840"/>
            <a:ext cx="365400" cy="36540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24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79040" y="222948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 5"/>
          <p:cNvSpPr/>
          <p:nvPr/>
        </p:nvSpPr>
        <p:spPr>
          <a:xfrm>
            <a:off x="1170360" y="206640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Сообщение В&lt;Л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694800" y="2615040"/>
            <a:ext cx="1728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нашли отсутствующий объект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7"/>
          <p:cNvSpPr/>
          <p:nvPr/>
        </p:nvSpPr>
        <p:spPr>
          <a:xfrm>
            <a:off x="2660760" y="2615040"/>
            <a:ext cx="237600" cy="360"/>
          </a:xfrm>
          <a:prstGeom prst="line">
            <a:avLst/>
          </a:prstGeom>
          <a:ln w="27940">
            <a:solidFill>
              <a:srgbClr val="246B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8" name="Shape 8"/>
          <p:cNvSpPr/>
          <p:nvPr/>
        </p:nvSpPr>
        <p:spPr>
          <a:xfrm>
            <a:off x="2971800" y="1901880"/>
            <a:ext cx="214848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9" name="Shape 9"/>
          <p:cNvSpPr/>
          <p:nvPr/>
        </p:nvSpPr>
        <p:spPr>
          <a:xfrm>
            <a:off x="3136320" y="2148840"/>
            <a:ext cx="365400" cy="36540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30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220560" y="222948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Text 10"/>
          <p:cNvSpPr/>
          <p:nvPr/>
        </p:nvSpPr>
        <p:spPr>
          <a:xfrm>
            <a:off x="3611880" y="206640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Сформировать пакет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1"/>
          <p:cNvSpPr/>
          <p:nvPr/>
        </p:nvSpPr>
        <p:spPr>
          <a:xfrm>
            <a:off x="3136320" y="261504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ГУИД / JSON-отбор / ссылки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2"/>
          <p:cNvSpPr/>
          <p:nvPr/>
        </p:nvSpPr>
        <p:spPr>
          <a:xfrm>
            <a:off x="5193720" y="2615040"/>
            <a:ext cx="447840" cy="360"/>
          </a:xfrm>
          <a:prstGeom prst="line">
            <a:avLst/>
          </a:prstGeom>
          <a:ln w="27940">
            <a:solidFill>
              <a:srgbClr val="246B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4" name="Shape 13"/>
          <p:cNvSpPr/>
          <p:nvPr/>
        </p:nvSpPr>
        <p:spPr>
          <a:xfrm>
            <a:off x="5715000" y="1901880"/>
            <a:ext cx="233136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5879520" y="2148840"/>
            <a:ext cx="365400" cy="36540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36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963760" y="222948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15"/>
          <p:cNvSpPr/>
          <p:nvPr/>
        </p:nvSpPr>
        <p:spPr>
          <a:xfrm>
            <a:off x="6355080" y="206640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POST register-changes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6"/>
          <p:cNvSpPr/>
          <p:nvPr/>
        </p:nvSpPr>
        <p:spPr>
          <a:xfrm>
            <a:off x="5879520" y="2615040"/>
            <a:ext cx="2002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/hs/sverka/V1/register-changes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7"/>
          <p:cNvSpPr/>
          <p:nvPr/>
        </p:nvSpPr>
        <p:spPr>
          <a:xfrm>
            <a:off x="8119800" y="2615040"/>
            <a:ext cx="539280" cy="360"/>
          </a:xfrm>
          <a:prstGeom prst="line">
            <a:avLst/>
          </a:prstGeom>
          <a:ln w="27940">
            <a:solidFill>
              <a:srgbClr val="246B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0" name="Shape 18"/>
          <p:cNvSpPr/>
          <p:nvPr/>
        </p:nvSpPr>
        <p:spPr>
          <a:xfrm>
            <a:off x="8732520" y="1901880"/>
            <a:ext cx="246852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8897040" y="2148840"/>
            <a:ext cx="365400" cy="365400"/>
          </a:xfrm>
          <a:prstGeom prst="ellipse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42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981280" y="222948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20"/>
          <p:cNvSpPr/>
          <p:nvPr/>
        </p:nvSpPr>
        <p:spPr>
          <a:xfrm>
            <a:off x="9372600" y="20664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Нижняя база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1"/>
          <p:cNvSpPr/>
          <p:nvPr/>
        </p:nvSpPr>
        <p:spPr>
          <a:xfrm>
            <a:off x="8897040" y="2615040"/>
            <a:ext cx="2139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регистрация в плане обмена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2"/>
          <p:cNvSpPr/>
          <p:nvPr/>
        </p:nvSpPr>
        <p:spPr>
          <a:xfrm>
            <a:off x="9966960" y="3401280"/>
            <a:ext cx="360" cy="603720"/>
          </a:xfrm>
          <a:prstGeom prst="line">
            <a:avLst/>
          </a:prstGeom>
          <a:ln w="30480">
            <a:solidFill>
              <a:srgbClr val="3E9B7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6" name="Shape 23"/>
          <p:cNvSpPr/>
          <p:nvPr/>
        </p:nvSpPr>
        <p:spPr>
          <a:xfrm>
            <a:off x="8001000" y="4069080"/>
            <a:ext cx="3767040" cy="292320"/>
          </a:xfrm>
          <a:prstGeom prst="roundRect">
            <a:avLst>
              <a:gd name="adj" fmla="val 50000"/>
            </a:avLst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7" name="Text 24"/>
          <p:cNvSpPr/>
          <p:nvPr/>
        </p:nvSpPr>
        <p:spPr>
          <a:xfrm>
            <a:off x="8074080" y="4087440"/>
            <a:ext cx="3620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Ближайший стандартный обмен выгружает объект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5"/>
          <p:cNvSpPr/>
          <p:nvPr/>
        </p:nvSpPr>
        <p:spPr>
          <a:xfrm>
            <a:off x="530280" y="413316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ЧТО КЛАДЁМ В ПАКЕТ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6"/>
          <p:cNvSpPr/>
          <p:nvPr/>
        </p:nvSpPr>
        <p:spPr>
          <a:xfrm>
            <a:off x="530280" y="4480560"/>
            <a:ext cx="3181680" cy="9871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0" name="Shape 27"/>
          <p:cNvSpPr/>
          <p:nvPr/>
        </p:nvSpPr>
        <p:spPr>
          <a:xfrm>
            <a:off x="694800" y="4736520"/>
            <a:ext cx="310680" cy="31068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51" name="Image 4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66440" y="480492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Text 28"/>
          <p:cNvSpPr/>
          <p:nvPr/>
        </p:nvSpPr>
        <p:spPr>
          <a:xfrm>
            <a:off x="1115640" y="462672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Справочники / документы / ПВХ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9"/>
          <p:cNvSpPr/>
          <p:nvPr/>
        </p:nvSpPr>
        <p:spPr>
          <a:xfrm>
            <a:off x="1115640" y="492876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ГУИД из текста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0"/>
          <p:cNvSpPr/>
          <p:nvPr/>
        </p:nvSpPr>
        <p:spPr>
          <a:xfrm>
            <a:off x="3950280" y="4480560"/>
            <a:ext cx="3181680" cy="9871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5" name="Shape 31"/>
          <p:cNvSpPr/>
          <p:nvPr/>
        </p:nvSpPr>
        <p:spPr>
          <a:xfrm>
            <a:off x="4114800" y="4736520"/>
            <a:ext cx="310680" cy="31068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56" name="Image 5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4186440" y="480492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Text 32"/>
          <p:cNvSpPr/>
          <p:nvPr/>
        </p:nvSpPr>
        <p:spPr>
          <a:xfrm>
            <a:off x="4535280" y="462672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Регистры сведений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33"/>
          <p:cNvSpPr/>
          <p:nvPr/>
        </p:nvSpPr>
        <p:spPr>
          <a:xfrm>
            <a:off x="4535280" y="492876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JSON после #ОТБОР# + ссылки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34"/>
          <p:cNvSpPr/>
          <p:nvPr/>
        </p:nvSpPr>
        <p:spPr>
          <a:xfrm>
            <a:off x="7369920" y="4480560"/>
            <a:ext cx="3181680" cy="9871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0" name="Shape 35"/>
          <p:cNvSpPr/>
          <p:nvPr/>
        </p:nvSpPr>
        <p:spPr>
          <a:xfrm>
            <a:off x="7534800" y="4736520"/>
            <a:ext cx="310680" cy="31068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61" name="Image 6" descr="preencoded.png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7606080" y="480492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Text 36"/>
          <p:cNvSpPr/>
          <p:nvPr/>
        </p:nvSpPr>
        <p:spPr>
          <a:xfrm>
            <a:off x="7955280" y="462672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Прочие регистры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7"/>
          <p:cNvSpPr/>
          <p:nvPr/>
        </p:nvSpPr>
        <p:spPr>
          <a:xfrm>
            <a:off x="7955280" y="492876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только ссылки из фрагментов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8"/>
          <p:cNvSpPr/>
          <p:nvPr/>
        </p:nvSpPr>
        <p:spPr>
          <a:xfrm>
            <a:off x="530280" y="5660280"/>
            <a:ext cx="10058040" cy="529920"/>
          </a:xfrm>
          <a:prstGeom prst="roundRect">
            <a:avLst>
              <a:gd name="adj" fmla="val 20690"/>
            </a:avLst>
          </a:prstGeom>
          <a:solidFill>
            <a:srgbClr val="FBF4E2"/>
          </a:solidFill>
          <a:ln w="12700">
            <a:solidFill>
              <a:srgbClr val="E7D9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65" name="Image 7" descr="preencoded.png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740520" y="58154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39"/>
          <p:cNvSpPr/>
          <p:nvPr/>
        </p:nvSpPr>
        <p:spPr>
          <a:xfrm>
            <a:off x="1042560" y="573336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Повторы одного ГУИД или одного отбора регистра в пакет не кладутся.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40"/>
          <p:cNvSpPr/>
          <p:nvPr/>
        </p:nvSpPr>
        <p:spPr>
          <a:xfrm>
            <a:off x="7443360" y="57333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Нет ГУИД и нет отбора → строка ошибки, без отправки.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sldNum" idx="10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0FF63-A02E-47A5-B08A-B106A35FDEAD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7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ОБЪЕКТЫ МЕТАДАННЫХ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Что именно сверяем — и чем определяется ключ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Эта страница управляет составом сверки для каждой базы.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4206240" y="1664280"/>
            <a:ext cx="377604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5870520" y="1874520"/>
            <a:ext cx="420120" cy="42012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74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67360" y="19670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 5"/>
          <p:cNvSpPr/>
          <p:nvPr/>
        </p:nvSpPr>
        <p:spPr>
          <a:xfrm>
            <a:off x="4663440" y="241416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Строка настройки объекта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4663440" y="281628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Объект + Вид + База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7"/>
          <p:cNvSpPr/>
          <p:nvPr/>
        </p:nvSpPr>
        <p:spPr>
          <a:xfrm>
            <a:off x="502920" y="1828800"/>
            <a:ext cx="2925720" cy="129816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8" name="Shape 8"/>
          <p:cNvSpPr/>
          <p:nvPr/>
        </p:nvSpPr>
        <p:spPr>
          <a:xfrm>
            <a:off x="685800" y="2057400"/>
            <a:ext cx="347040" cy="347040"/>
          </a:xfrm>
          <a:prstGeom prst="ellipse">
            <a:avLst/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79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65720" y="213372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 9"/>
          <p:cNvSpPr/>
          <p:nvPr/>
        </p:nvSpPr>
        <p:spPr>
          <a:xfrm>
            <a:off x="1161360" y="1993320"/>
            <a:ext cx="21027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Выбран = Истина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0"/>
          <p:cNvSpPr/>
          <p:nvPr/>
        </p:nvSpPr>
        <p:spPr>
          <a:xfrm>
            <a:off x="685800" y="2487240"/>
            <a:ext cx="25599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только такие строки попадают в запрос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1"/>
          <p:cNvSpPr/>
          <p:nvPr/>
        </p:nvSpPr>
        <p:spPr>
          <a:xfrm>
            <a:off x="502920" y="3977640"/>
            <a:ext cx="2925720" cy="129816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3" name="Shape 12"/>
          <p:cNvSpPr/>
          <p:nvPr/>
        </p:nvSpPr>
        <p:spPr>
          <a:xfrm>
            <a:off x="685800" y="4206240"/>
            <a:ext cx="347040" cy="34704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84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65720" y="428256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 13"/>
          <p:cNvSpPr/>
          <p:nvPr/>
        </p:nvSpPr>
        <p:spPr>
          <a:xfrm>
            <a:off x="1161360" y="4142160"/>
            <a:ext cx="21027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Поле организации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4"/>
          <p:cNvSpPr/>
          <p:nvPr/>
        </p:nvSpPr>
        <p:spPr>
          <a:xfrm>
            <a:off x="685800" y="4636080"/>
            <a:ext cx="25599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если заполнено — добавляется отбор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5"/>
          <p:cNvSpPr/>
          <p:nvPr/>
        </p:nvSpPr>
        <p:spPr>
          <a:xfrm>
            <a:off x="8732520" y="1828800"/>
            <a:ext cx="2925720" cy="129816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8" name="Shape 16"/>
          <p:cNvSpPr/>
          <p:nvPr/>
        </p:nvSpPr>
        <p:spPr>
          <a:xfrm>
            <a:off x="8915400" y="2057400"/>
            <a:ext cx="347040" cy="34704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89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995320" y="213372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Text 17"/>
          <p:cNvSpPr/>
          <p:nvPr/>
        </p:nvSpPr>
        <p:spPr>
          <a:xfrm>
            <a:off x="9390960" y="1993320"/>
            <a:ext cx="21027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Основные поля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8"/>
          <p:cNvSpPr/>
          <p:nvPr/>
        </p:nvSpPr>
        <p:spPr>
          <a:xfrm>
            <a:off x="8915400" y="2487240"/>
            <a:ext cx="25599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заменяют стандартный ключ целиком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9"/>
          <p:cNvSpPr/>
          <p:nvPr/>
        </p:nvSpPr>
        <p:spPr>
          <a:xfrm>
            <a:off x="8732520" y="3977640"/>
            <a:ext cx="2925720" cy="129816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8915400" y="4206240"/>
            <a:ext cx="347040" cy="34704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94" name="Image 4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8995320" y="428256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21"/>
          <p:cNvSpPr/>
          <p:nvPr/>
        </p:nvSpPr>
        <p:spPr>
          <a:xfrm>
            <a:off x="9390960" y="4142160"/>
            <a:ext cx="21027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Дополнительные поля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2"/>
          <p:cNvSpPr/>
          <p:nvPr/>
        </p:nvSpPr>
        <p:spPr>
          <a:xfrm>
            <a:off x="8915400" y="4636080"/>
            <a:ext cx="25599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добавляются к стандарту, если основные пусты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3"/>
          <p:cNvSpPr/>
          <p:nvPr/>
        </p:nvSpPr>
        <p:spPr>
          <a:xfrm>
            <a:off x="3474720" y="2486880"/>
            <a:ext cx="658080" cy="360"/>
          </a:xfrm>
          <a:prstGeom prst="line">
            <a:avLst/>
          </a:prstGeom>
          <a:ln w="25400">
            <a:solidFill>
              <a:srgbClr val="D5DE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8" name="Shape 24"/>
          <p:cNvSpPr/>
          <p:nvPr/>
        </p:nvSpPr>
        <p:spPr>
          <a:xfrm flipV="1">
            <a:off x="3474720" y="3309840"/>
            <a:ext cx="840960" cy="1316880"/>
          </a:xfrm>
          <a:prstGeom prst="line">
            <a:avLst/>
          </a:prstGeom>
          <a:ln w="25400">
            <a:solidFill>
              <a:srgbClr val="D5DE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9" name="Shape 25"/>
          <p:cNvSpPr/>
          <p:nvPr/>
        </p:nvSpPr>
        <p:spPr>
          <a:xfrm flipH="1">
            <a:off x="8055720" y="2486880"/>
            <a:ext cx="676800" cy="360"/>
          </a:xfrm>
          <a:prstGeom prst="line">
            <a:avLst/>
          </a:prstGeom>
          <a:ln w="25400">
            <a:solidFill>
              <a:srgbClr val="D5DE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0" name="Shape 26"/>
          <p:cNvSpPr/>
          <p:nvPr/>
        </p:nvSpPr>
        <p:spPr>
          <a:xfrm flipH="1" flipV="1">
            <a:off x="7872840" y="3309840"/>
            <a:ext cx="859680" cy="1316880"/>
          </a:xfrm>
          <a:prstGeom prst="line">
            <a:avLst/>
          </a:prstGeom>
          <a:ln w="25400">
            <a:solidFill>
              <a:srgbClr val="D5DE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1" name="Shape 27"/>
          <p:cNvSpPr/>
          <p:nvPr/>
        </p:nvSpPr>
        <p:spPr>
          <a:xfrm>
            <a:off x="4206240" y="3822120"/>
            <a:ext cx="3776040" cy="1444320"/>
          </a:xfrm>
          <a:prstGeom prst="roundRect">
            <a:avLst>
              <a:gd name="adj" fmla="val 7595"/>
            </a:avLst>
          </a:prstGeom>
          <a:solidFill>
            <a:srgbClr val="EFF3F6"/>
          </a:solidFill>
          <a:ln w="12700">
            <a:solidFill>
              <a:srgbClr val="D6E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2" name="Text 28"/>
          <p:cNvSpPr/>
          <p:nvPr/>
        </p:nvSpPr>
        <p:spPr>
          <a:xfrm>
            <a:off x="4462200" y="404172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98A1"/>
                </a:solidFill>
                <a:effectLst/>
                <a:uFillTx/>
                <a:latin typeface="Aptos"/>
                <a:ea typeface="Aptos"/>
              </a:rPr>
              <a:t>ВИДНО НА ФОРМЕ, НО НЕ ЧИТАЕТСЯ СВЕРКОЙ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9"/>
          <p:cNvSpPr/>
          <p:nvPr/>
        </p:nvSpPr>
        <p:spPr>
          <a:xfrm>
            <a:off x="4462200" y="448056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5B6870"/>
                </a:solidFill>
                <a:effectLst/>
                <a:uFillTx/>
                <a:latin typeface="Aptos"/>
                <a:ea typeface="Aptos"/>
              </a:rPr>
              <a:t>Представление · Иерархический · Владелец · Количество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0"/>
          <p:cNvSpPr/>
          <p:nvPr/>
        </p:nvSpPr>
        <p:spPr>
          <a:xfrm>
            <a:off x="1920240" y="5715000"/>
            <a:ext cx="8320680" cy="292320"/>
          </a:xfrm>
          <a:prstGeom prst="roundRect">
            <a:avLst>
              <a:gd name="adj" fmla="val 50000"/>
            </a:avLst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5" name="Text 31"/>
          <p:cNvSpPr/>
          <p:nvPr/>
        </p:nvSpPr>
        <p:spPr>
          <a:xfrm>
            <a:off x="1993320" y="5733360"/>
            <a:ext cx="8174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«Копировать строку для всех баз» → переносит настройку на все актуальные базы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sldNum" idx="11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2AD452-11D2-4276-A23F-DB6FCA6D87ED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8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ЗАПОЛНЕНИЕ МЕТАДАННЫХ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Откуда берётся состав объектов для сверки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Кнопка «Заполнить» собирает состав из трёх источников и оставляет только актуальное.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3"/>
          <p:cNvSpPr/>
          <p:nvPr/>
        </p:nvSpPr>
        <p:spPr>
          <a:xfrm>
            <a:off x="502920" y="1737360"/>
            <a:ext cx="3017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1" name="Shape 4"/>
          <p:cNvSpPr/>
          <p:nvPr/>
        </p:nvSpPr>
        <p:spPr>
          <a:xfrm>
            <a:off x="667440" y="2030040"/>
            <a:ext cx="365400" cy="36540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12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51680" y="211032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 5"/>
          <p:cNvSpPr/>
          <p:nvPr/>
        </p:nvSpPr>
        <p:spPr>
          <a:xfrm>
            <a:off x="1143000" y="189288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ВЕРХ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6"/>
          <p:cNvSpPr/>
          <p:nvPr/>
        </p:nvSpPr>
        <p:spPr>
          <a:xfrm>
            <a:off x="1143000" y="22129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план обмена по узлу ИБ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7"/>
          <p:cNvSpPr/>
          <p:nvPr/>
        </p:nvSpPr>
        <p:spPr>
          <a:xfrm>
            <a:off x="2011680" y="2971800"/>
            <a:ext cx="4087080" cy="758880"/>
          </a:xfrm>
          <a:prstGeom prst="line">
            <a:avLst/>
          </a:prstGeom>
          <a:ln w="24130">
            <a:solidFill>
              <a:srgbClr val="AEBBC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6" name="Shape 8"/>
          <p:cNvSpPr/>
          <p:nvPr/>
        </p:nvSpPr>
        <p:spPr>
          <a:xfrm>
            <a:off x="4041720" y="1737360"/>
            <a:ext cx="3017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7" name="Shape 9"/>
          <p:cNvSpPr/>
          <p:nvPr/>
        </p:nvSpPr>
        <p:spPr>
          <a:xfrm>
            <a:off x="4206240" y="2030040"/>
            <a:ext cx="365400" cy="36540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18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290480" y="211032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 10"/>
          <p:cNvSpPr/>
          <p:nvPr/>
        </p:nvSpPr>
        <p:spPr>
          <a:xfrm>
            <a:off x="4681800" y="189288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НИЗ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1"/>
          <p:cNvSpPr/>
          <p:nvPr/>
        </p:nvSpPr>
        <p:spPr>
          <a:xfrm>
            <a:off x="4681800" y="22129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POST /СоставДляСверки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2"/>
          <p:cNvSpPr/>
          <p:nvPr/>
        </p:nvSpPr>
        <p:spPr>
          <a:xfrm>
            <a:off x="5550120" y="2971800"/>
            <a:ext cx="548640" cy="758880"/>
          </a:xfrm>
          <a:prstGeom prst="line">
            <a:avLst/>
          </a:prstGeom>
          <a:ln w="24130">
            <a:solidFill>
              <a:srgbClr val="AEBBC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2" name="Shape 13"/>
          <p:cNvSpPr/>
          <p:nvPr/>
        </p:nvSpPr>
        <p:spPr>
          <a:xfrm>
            <a:off x="7580520" y="1737360"/>
            <a:ext cx="3017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3" name="Shape 14"/>
          <p:cNvSpPr/>
          <p:nvPr/>
        </p:nvSpPr>
        <p:spPr>
          <a:xfrm>
            <a:off x="7745040" y="2030040"/>
            <a:ext cx="365400" cy="36540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24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828920" y="211032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 15"/>
          <p:cNvSpPr/>
          <p:nvPr/>
        </p:nvSpPr>
        <p:spPr>
          <a:xfrm>
            <a:off x="8220600" y="189288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ПРАВИЛА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6"/>
          <p:cNvSpPr/>
          <p:nvPr/>
        </p:nvSpPr>
        <p:spPr>
          <a:xfrm>
            <a:off x="8220600" y="22129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белый список корреспондента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7"/>
          <p:cNvSpPr/>
          <p:nvPr/>
        </p:nvSpPr>
        <p:spPr>
          <a:xfrm flipH="1">
            <a:off x="6098760" y="2971800"/>
            <a:ext cx="2990160" cy="758880"/>
          </a:xfrm>
          <a:prstGeom prst="line">
            <a:avLst/>
          </a:prstGeom>
          <a:ln w="24130">
            <a:solidFill>
              <a:srgbClr val="AEBBC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8" name="Shape 18"/>
          <p:cNvSpPr/>
          <p:nvPr/>
        </p:nvSpPr>
        <p:spPr>
          <a:xfrm>
            <a:off x="4023360" y="3703320"/>
            <a:ext cx="4141800" cy="1325520"/>
          </a:xfrm>
          <a:prstGeom prst="roundRect">
            <a:avLst>
              <a:gd name="adj" fmla="val 8276"/>
            </a:avLst>
          </a:prstGeom>
          <a:solidFill>
            <a:srgbClr val="E7F1F7"/>
          </a:solidFill>
          <a:ln w="12700">
            <a:solidFill>
              <a:srgbClr val="C7DC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9" name="Shape 19"/>
          <p:cNvSpPr/>
          <p:nvPr/>
        </p:nvSpPr>
        <p:spPr>
          <a:xfrm>
            <a:off x="4316040" y="4023360"/>
            <a:ext cx="383760" cy="38376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30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404240" y="410796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Text 20"/>
          <p:cNvSpPr/>
          <p:nvPr/>
        </p:nvSpPr>
        <p:spPr>
          <a:xfrm>
            <a:off x="4846320" y="388620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Итоговый список объектов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1"/>
          <p:cNvSpPr/>
          <p:nvPr/>
        </p:nvSpPr>
        <p:spPr>
          <a:xfrm>
            <a:off x="4846320" y="427032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новые строки → Выбран = Истина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существующие настройки сохраняются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2"/>
          <p:cNvSpPr/>
          <p:nvPr/>
        </p:nvSpPr>
        <p:spPr>
          <a:xfrm>
            <a:off x="502920" y="54133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ЧТО ОТСЕКАЕТСЯ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23"/>
          <p:cNvSpPr/>
          <p:nvPr/>
        </p:nvSpPr>
        <p:spPr>
          <a:xfrm>
            <a:off x="1920240" y="5321880"/>
            <a:ext cx="2057040" cy="292320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 w="12700">
            <a:solidFill>
              <a:srgbClr val="F6E7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5" name="Text 24"/>
          <p:cNvSpPr/>
          <p:nvPr/>
        </p:nvSpPr>
        <p:spPr>
          <a:xfrm>
            <a:off x="1993320" y="5340240"/>
            <a:ext cx="1910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Жёсткие исключения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5"/>
          <p:cNvSpPr/>
          <p:nvPr/>
        </p:nvSpPr>
        <p:spPr>
          <a:xfrm>
            <a:off x="4270320" y="5321880"/>
            <a:ext cx="2057040" cy="292320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 w="12700">
            <a:solidFill>
              <a:srgbClr val="F6E7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7" name="Text 26"/>
          <p:cNvSpPr/>
          <p:nvPr/>
        </p:nvSpPr>
        <p:spPr>
          <a:xfrm>
            <a:off x="4343400" y="5340240"/>
            <a:ext cx="1910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«УДАЛИТЬ» в имени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27"/>
          <p:cNvSpPr/>
          <p:nvPr/>
        </p:nvSpPr>
        <p:spPr>
          <a:xfrm>
            <a:off x="6620400" y="5321880"/>
            <a:ext cx="2057040" cy="292320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 w="12700">
            <a:solidFill>
              <a:srgbClr val="F6E7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9" name="Text 28"/>
          <p:cNvSpPr/>
          <p:nvPr/>
        </p:nvSpPr>
        <p:spPr>
          <a:xfrm>
            <a:off x="6693480" y="5340240"/>
            <a:ext cx="1910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«не используется»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9"/>
          <p:cNvSpPr/>
          <p:nvPr/>
        </p:nvSpPr>
        <p:spPr>
          <a:xfrm>
            <a:off x="8970120" y="5321880"/>
            <a:ext cx="2057040" cy="292320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 w="12700">
            <a:solidFill>
              <a:srgbClr val="F6E7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1" name="Text 30"/>
          <p:cNvSpPr/>
          <p:nvPr/>
        </p:nvSpPr>
        <p:spPr>
          <a:xfrm>
            <a:off x="9043560" y="5340240"/>
            <a:ext cx="19108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безусловный Отказ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31"/>
          <p:cNvSpPr/>
          <p:nvPr/>
        </p:nvSpPr>
        <p:spPr>
          <a:xfrm>
            <a:off x="502920" y="5797440"/>
            <a:ext cx="11173680" cy="438480"/>
          </a:xfrm>
          <a:prstGeom prst="roundRect">
            <a:avLst>
              <a:gd name="adj" fmla="val 25000"/>
            </a:avLst>
          </a:prstGeom>
          <a:solidFill>
            <a:srgbClr val="FBF4E2"/>
          </a:solidFill>
          <a:ln w="12700">
            <a:solidFill>
              <a:srgbClr val="E4D5A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3" name="Text 32"/>
          <p:cNvSpPr/>
          <p:nvPr/>
        </p:nvSpPr>
        <p:spPr>
          <a:xfrm>
            <a:off x="749880" y="58521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Объект может попасть в регистр даже если его нет в метаданных этой базы — счётчик предупредит, что сверка по нему не пройдёт.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sldNum" idx="12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9F434-31C0-46F2-B938-F91AD4019AD1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9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ПАРАМЕТРЫ БАЗ И НАСТРОЙКИ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Что нужно, чтобы база участвовала в сверке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Подключение складывается из адреса публикации, признаков соединения и общих учётных данных.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3"/>
          <p:cNvSpPr/>
          <p:nvPr/>
        </p:nvSpPr>
        <p:spPr>
          <a:xfrm>
            <a:off x="457200" y="1691640"/>
            <a:ext cx="662904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9" name="Text 4"/>
          <p:cNvSpPr/>
          <p:nvPr/>
        </p:nvSpPr>
        <p:spPr>
          <a:xfrm>
            <a:off x="749880" y="19018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КАРТОЧКА БАЗЫ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5"/>
          <p:cNvSpPr/>
          <p:nvPr/>
        </p:nvSpPr>
        <p:spPr>
          <a:xfrm>
            <a:off x="768240" y="2331720"/>
            <a:ext cx="310680" cy="31068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51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39520" y="240012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Text 6"/>
          <p:cNvSpPr/>
          <p:nvPr/>
        </p:nvSpPr>
        <p:spPr>
          <a:xfrm>
            <a:off x="1207080" y="2322720"/>
            <a:ext cx="1325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Код организации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7"/>
          <p:cNvSpPr/>
          <p:nvPr/>
        </p:nvSpPr>
        <p:spPr>
          <a:xfrm>
            <a:off x="1207080" y="258768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170" b="1" u="none" strike="noStrike" dirty="0">
                <a:solidFill>
                  <a:srgbClr val="14364A"/>
                </a:solidFill>
                <a:effectLst/>
                <a:uFillTx/>
                <a:latin typeface="Aptos"/>
              </a:rPr>
              <a:t>НН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8"/>
          <p:cNvSpPr/>
          <p:nvPr/>
        </p:nvSpPr>
        <p:spPr>
          <a:xfrm>
            <a:off x="768240" y="3273480"/>
            <a:ext cx="310680" cy="31068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55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39520" y="334188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Text 9"/>
          <p:cNvSpPr/>
          <p:nvPr/>
        </p:nvSpPr>
        <p:spPr>
          <a:xfrm>
            <a:off x="1207080" y="3264480"/>
            <a:ext cx="1325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Наименование узла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0"/>
          <p:cNvSpPr/>
          <p:nvPr/>
        </p:nvSpPr>
        <p:spPr>
          <a:xfrm>
            <a:off x="1207080" y="352944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HRM-NOVA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1"/>
          <p:cNvSpPr/>
          <p:nvPr/>
        </p:nvSpPr>
        <p:spPr>
          <a:xfrm>
            <a:off x="768240" y="4215240"/>
            <a:ext cx="310680" cy="310680"/>
          </a:xfrm>
          <a:prstGeom prst="ellipse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59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39520" y="428364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 12"/>
          <p:cNvSpPr/>
          <p:nvPr/>
        </p:nvSpPr>
        <p:spPr>
          <a:xfrm>
            <a:off x="1207080" y="4206240"/>
            <a:ext cx="1325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WS сервер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3"/>
          <p:cNvSpPr/>
          <p:nvPr/>
        </p:nvSpPr>
        <p:spPr>
          <a:xfrm>
            <a:off x="1207080" y="44715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server.company.local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4"/>
          <p:cNvSpPr/>
          <p:nvPr/>
        </p:nvSpPr>
        <p:spPr>
          <a:xfrm>
            <a:off x="3849480" y="2331720"/>
            <a:ext cx="310680" cy="31068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63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3921120" y="240012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Text 15"/>
          <p:cNvSpPr/>
          <p:nvPr/>
        </p:nvSpPr>
        <p:spPr>
          <a:xfrm>
            <a:off x="4288680" y="2322720"/>
            <a:ext cx="1325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WS имя базы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6"/>
          <p:cNvSpPr/>
          <p:nvPr/>
        </p:nvSpPr>
        <p:spPr>
          <a:xfrm>
            <a:off x="4288680" y="258768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hrm_nova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7"/>
          <p:cNvSpPr/>
          <p:nvPr/>
        </p:nvSpPr>
        <p:spPr>
          <a:xfrm>
            <a:off x="3849480" y="3273480"/>
            <a:ext cx="310680" cy="310680"/>
          </a:xfrm>
          <a:prstGeom prst="ellipse">
            <a:avLst/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67" name="Image 4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3921120" y="334188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Text 18"/>
          <p:cNvSpPr/>
          <p:nvPr/>
        </p:nvSpPr>
        <p:spPr>
          <a:xfrm>
            <a:off x="4288680" y="3264480"/>
            <a:ext cx="1325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SSL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9"/>
          <p:cNvSpPr/>
          <p:nvPr/>
        </p:nvSpPr>
        <p:spPr>
          <a:xfrm>
            <a:off x="4288680" y="352944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 dirty="0" err="1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заполнено</a:t>
            </a:r>
            <a:r>
              <a:rPr lang="en-US" sz="1170" b="1" u="none" strike="noStrike" dirty="0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 → OpenSSL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0"/>
          <p:cNvSpPr/>
          <p:nvPr/>
        </p:nvSpPr>
        <p:spPr>
          <a:xfrm>
            <a:off x="3849480" y="4215240"/>
            <a:ext cx="310680" cy="31068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71" name="Image 5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3921120" y="428364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 21"/>
          <p:cNvSpPr/>
          <p:nvPr/>
        </p:nvSpPr>
        <p:spPr>
          <a:xfrm>
            <a:off x="4288680" y="4206240"/>
            <a:ext cx="1325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Proxy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2"/>
          <p:cNvSpPr/>
          <p:nvPr/>
        </p:nvSpPr>
        <p:spPr>
          <a:xfrm>
            <a:off x="4288680" y="44715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заполнено → прокси платформы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23"/>
          <p:cNvSpPr/>
          <p:nvPr/>
        </p:nvSpPr>
        <p:spPr>
          <a:xfrm>
            <a:off x="768240" y="5193720"/>
            <a:ext cx="6016320" cy="529920"/>
          </a:xfrm>
          <a:prstGeom prst="roundRect">
            <a:avLst>
              <a:gd name="adj" fmla="val 20690"/>
            </a:avLst>
          </a:prstGeom>
          <a:solidFill>
            <a:srgbClr val="EAF5F0"/>
          </a:solidFill>
          <a:ln w="12700">
            <a:solidFill>
              <a:srgbClr val="CEE4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75" name="Image 6" descr="preencoded.png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960120" y="53402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 24"/>
          <p:cNvSpPr/>
          <p:nvPr/>
        </p:nvSpPr>
        <p:spPr>
          <a:xfrm>
            <a:off x="1298520" y="5266800"/>
            <a:ext cx="5166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База считается актуальной, если заполнены код организации и узел ИБ.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5"/>
          <p:cNvSpPr/>
          <p:nvPr/>
        </p:nvSpPr>
        <p:spPr>
          <a:xfrm>
            <a:off x="7360920" y="1691640"/>
            <a:ext cx="4370400" cy="1874160"/>
          </a:xfrm>
          <a:prstGeom prst="roundRect">
            <a:avLst>
              <a:gd name="adj" fmla="val 5854"/>
            </a:avLst>
          </a:prstGeom>
          <a:solidFill>
            <a:srgbClr val="14364A"/>
          </a:solidFill>
          <a:ln w="12700">
            <a:solidFill>
              <a:srgbClr val="244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8" name="Shape 26"/>
          <p:cNvSpPr/>
          <p:nvPr/>
        </p:nvSpPr>
        <p:spPr>
          <a:xfrm>
            <a:off x="7644240" y="2030040"/>
            <a:ext cx="420120" cy="420120"/>
          </a:xfrm>
          <a:prstGeom prst="ellipse">
            <a:avLst/>
          </a:prstGeom>
          <a:solidFill>
            <a:srgbClr val="F2C55C"/>
          </a:solidFill>
          <a:ln w="12700">
            <a:solidFill>
              <a:srgbClr val="F2C5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79" name="Image 7" descr="preencoded.png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7741080" y="212256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Text 27"/>
          <p:cNvSpPr/>
          <p:nvPr/>
        </p:nvSpPr>
        <p:spPr>
          <a:xfrm>
            <a:off x="8229600" y="194760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Учётные данные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8"/>
          <p:cNvSpPr/>
          <p:nvPr/>
        </p:nvSpPr>
        <p:spPr>
          <a:xfrm>
            <a:off x="8229600" y="237744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6E3E9"/>
                </a:solidFill>
                <a:effectLst/>
                <a:uFillTx/>
                <a:latin typeface="Aptos"/>
                <a:ea typeface="Aptos"/>
              </a:rPr>
              <a:t>Один логин и пароль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6E3E9"/>
                </a:solidFill>
                <a:effectLst/>
                <a:uFillTx/>
                <a:latin typeface="Aptos"/>
                <a:ea typeface="Aptos"/>
              </a:rPr>
              <a:t>для всех баз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9"/>
          <p:cNvSpPr/>
          <p:nvPr/>
        </p:nvSpPr>
        <p:spPr>
          <a:xfrm>
            <a:off x="7644240" y="3090600"/>
            <a:ext cx="3611520" cy="292320"/>
          </a:xfrm>
          <a:prstGeom prst="roundRect">
            <a:avLst>
              <a:gd name="adj" fmla="val 50000"/>
            </a:avLst>
          </a:prstGeom>
          <a:solidFill>
            <a:srgbClr val="244D61"/>
          </a:solidFill>
          <a:ln w="12700">
            <a:solidFill>
              <a:srgbClr val="244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3" name="Text 30"/>
          <p:cNvSpPr/>
          <p:nvPr/>
        </p:nvSpPr>
        <p:spPr>
          <a:xfrm>
            <a:off x="7717680" y="3108960"/>
            <a:ext cx="34653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BFD1DB"/>
                </a:solidFill>
                <a:effectLst/>
                <a:uFillTx/>
                <a:latin typeface="Aptos"/>
                <a:ea typeface="Aptos"/>
              </a:rPr>
              <a:t>Безопасное хранилище · СинхронизацияEMS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31"/>
          <p:cNvSpPr/>
          <p:nvPr/>
        </p:nvSpPr>
        <p:spPr>
          <a:xfrm>
            <a:off x="7360920" y="3822120"/>
            <a:ext cx="4370400" cy="2212560"/>
          </a:xfrm>
          <a:prstGeom prst="roundRect">
            <a:avLst>
              <a:gd name="adj" fmla="val 4959"/>
            </a:avLst>
          </a:prstGeom>
          <a:solidFill>
            <a:srgbClr val="FBF4E2"/>
          </a:solidFill>
          <a:ln w="12700">
            <a:solidFill>
              <a:srgbClr val="E5D7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5" name="Shape 32"/>
          <p:cNvSpPr/>
          <p:nvPr/>
        </p:nvSpPr>
        <p:spPr>
          <a:xfrm>
            <a:off x="7644240" y="4096440"/>
            <a:ext cx="347040" cy="34704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86" name="Image 8" descr="preencoded.png"/>
          <p:cNvPicPr/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7724160" y="417312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Text 33"/>
          <p:cNvSpPr/>
          <p:nvPr/>
        </p:nvSpPr>
        <p:spPr>
          <a:xfrm>
            <a:off x="8138160" y="40323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D98C3F"/>
                </a:solidFill>
                <a:effectLst/>
                <a:uFillTx/>
                <a:latin typeface="Aptos"/>
                <a:ea typeface="Aptos"/>
              </a:rPr>
              <a:t>Важная деталь формы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4"/>
          <p:cNvSpPr/>
          <p:nvPr/>
        </p:nvSpPr>
        <p:spPr>
          <a:xfrm>
            <a:off x="7644240" y="4507920"/>
            <a:ext cx="37119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Колонки WS-логина и WS-пароля на странице баз не соответствуют реквизитам справочника. Реальный HTTP-доступ берётся со страницы «Настройки».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sldNum" idx="13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4F9F2E-DE93-419A-A6DB-6F3932CB69BF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10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КОДЫ СОПОСТАВЛЕНИЯ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Как код EMS превращается в ссылку организации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Орг(код) использует последовательный fallback — от точного сопоставления до поиска по коду.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3"/>
          <p:cNvSpPr/>
          <p:nvPr/>
        </p:nvSpPr>
        <p:spPr>
          <a:xfrm>
            <a:off x="567000" y="1783080"/>
            <a:ext cx="4663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4" name="Shape 4"/>
          <p:cNvSpPr/>
          <p:nvPr/>
        </p:nvSpPr>
        <p:spPr>
          <a:xfrm>
            <a:off x="804600" y="2002680"/>
            <a:ext cx="310680" cy="310680"/>
          </a:xfrm>
          <a:prstGeom prst="ellipse">
            <a:avLst/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95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76240" y="207108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Shape 5"/>
          <p:cNvSpPr/>
          <p:nvPr/>
        </p:nvSpPr>
        <p:spPr>
          <a:xfrm>
            <a:off x="1298520" y="2020680"/>
            <a:ext cx="411120" cy="292320"/>
          </a:xfrm>
          <a:prstGeom prst="roundRect">
            <a:avLst>
              <a:gd name="adj" fmla="val 50000"/>
            </a:avLst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7" name="Text 6"/>
          <p:cNvSpPr/>
          <p:nvPr/>
        </p:nvSpPr>
        <p:spPr>
          <a:xfrm>
            <a:off x="1371600" y="2039040"/>
            <a:ext cx="264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7"/>
          <p:cNvSpPr/>
          <p:nvPr/>
        </p:nvSpPr>
        <p:spPr>
          <a:xfrm>
            <a:off x="1874520" y="19018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Регистр сопоставления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8"/>
          <p:cNvSpPr/>
          <p:nvPr/>
        </p:nvSpPr>
        <p:spPr>
          <a:xfrm>
            <a:off x="1874520" y="2194560"/>
            <a:ext cx="2998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Code = код → ГУИД существует в справочнике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9"/>
          <p:cNvSpPr/>
          <p:nvPr/>
        </p:nvSpPr>
        <p:spPr>
          <a:xfrm>
            <a:off x="2898360" y="2606040"/>
            <a:ext cx="360" cy="219240"/>
          </a:xfrm>
          <a:prstGeom prst="line">
            <a:avLst/>
          </a:prstGeom>
          <a:ln w="21590">
            <a:solidFill>
              <a:srgbClr val="B5C1C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1" name="Shape 10"/>
          <p:cNvSpPr/>
          <p:nvPr/>
        </p:nvSpPr>
        <p:spPr>
          <a:xfrm>
            <a:off x="567000" y="2880360"/>
            <a:ext cx="4663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2" name="Shape 11"/>
          <p:cNvSpPr/>
          <p:nvPr/>
        </p:nvSpPr>
        <p:spPr>
          <a:xfrm>
            <a:off x="804600" y="3099960"/>
            <a:ext cx="310680" cy="31068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0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76240" y="316836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Shape 12"/>
          <p:cNvSpPr/>
          <p:nvPr/>
        </p:nvSpPr>
        <p:spPr>
          <a:xfrm>
            <a:off x="1298520" y="3117960"/>
            <a:ext cx="411120" cy="292320"/>
          </a:xfrm>
          <a:prstGeom prst="roundRect">
            <a:avLst>
              <a:gd name="adj" fmla="val 50000"/>
            </a:avLst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5" name="Text 13"/>
          <p:cNvSpPr/>
          <p:nvPr/>
        </p:nvSpPr>
        <p:spPr>
          <a:xfrm>
            <a:off x="1371600" y="3136320"/>
            <a:ext cx="264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4"/>
          <p:cNvSpPr/>
          <p:nvPr/>
        </p:nvSpPr>
        <p:spPr>
          <a:xfrm>
            <a:off x="1874520" y="299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Сам код как ГУИД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5"/>
          <p:cNvSpPr/>
          <p:nvPr/>
        </p:nvSpPr>
        <p:spPr>
          <a:xfrm>
            <a:off x="1874520" y="3291840"/>
            <a:ext cx="2998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если это ГУИД существующей организации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6"/>
          <p:cNvSpPr/>
          <p:nvPr/>
        </p:nvSpPr>
        <p:spPr>
          <a:xfrm>
            <a:off x="2898360" y="3703320"/>
            <a:ext cx="360" cy="219240"/>
          </a:xfrm>
          <a:prstGeom prst="line">
            <a:avLst/>
          </a:prstGeom>
          <a:ln w="21590">
            <a:solidFill>
              <a:srgbClr val="B5C1C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9" name="Shape 17"/>
          <p:cNvSpPr/>
          <p:nvPr/>
        </p:nvSpPr>
        <p:spPr>
          <a:xfrm>
            <a:off x="567000" y="3977640"/>
            <a:ext cx="466308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0" name="Shape 18"/>
          <p:cNvSpPr/>
          <p:nvPr/>
        </p:nvSpPr>
        <p:spPr>
          <a:xfrm>
            <a:off x="804600" y="4197240"/>
            <a:ext cx="310680" cy="31068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11" name="Image 2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76240" y="426564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Shape 19"/>
          <p:cNvSpPr/>
          <p:nvPr/>
        </p:nvSpPr>
        <p:spPr>
          <a:xfrm>
            <a:off x="1298520" y="4215240"/>
            <a:ext cx="411120" cy="292320"/>
          </a:xfrm>
          <a:prstGeom prst="roundRect">
            <a:avLst>
              <a:gd name="adj" fmla="val 50000"/>
            </a:avLst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3" name="Text 20"/>
          <p:cNvSpPr/>
          <p:nvPr/>
        </p:nvSpPr>
        <p:spPr>
          <a:xfrm>
            <a:off x="1371600" y="4233600"/>
            <a:ext cx="264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1"/>
          <p:cNvSpPr/>
          <p:nvPr/>
        </p:nvSpPr>
        <p:spPr>
          <a:xfrm>
            <a:off x="1874520" y="40964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НайтиПоКоду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2"/>
          <p:cNvSpPr/>
          <p:nvPr/>
        </p:nvSpPr>
        <p:spPr>
          <a:xfrm>
            <a:off x="1874520" y="4389120"/>
            <a:ext cx="2998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Справочники.Организации.НайтиПоКоду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3"/>
          <p:cNvSpPr/>
          <p:nvPr/>
        </p:nvSpPr>
        <p:spPr>
          <a:xfrm>
            <a:off x="5623560" y="1783080"/>
            <a:ext cx="5988960" cy="1261440"/>
          </a:xfrm>
          <a:prstGeom prst="roundRect">
            <a:avLst>
              <a:gd name="adj" fmla="val 8696"/>
            </a:avLst>
          </a:prstGeom>
          <a:solidFill>
            <a:srgbClr val="E7F1F7"/>
          </a:solidFill>
          <a:ln w="12700">
            <a:solidFill>
              <a:srgbClr val="C7DC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7" name="Text 24"/>
          <p:cNvSpPr/>
          <p:nvPr/>
        </p:nvSpPr>
        <p:spPr>
          <a:xfrm>
            <a:off x="5897880" y="199332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ПРИМЕР СОПОСТАВЛЕНИЯ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5"/>
          <p:cNvSpPr/>
          <p:nvPr/>
        </p:nvSpPr>
        <p:spPr>
          <a:xfrm>
            <a:off x="5916240" y="2395800"/>
            <a:ext cx="658080" cy="292320"/>
          </a:xfrm>
          <a:prstGeom prst="roundRect">
            <a:avLst>
              <a:gd name="adj" fmla="val 50000"/>
            </a:avLst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9" name="Text 26"/>
          <p:cNvSpPr/>
          <p:nvPr/>
        </p:nvSpPr>
        <p:spPr>
          <a:xfrm>
            <a:off x="5989320" y="2414160"/>
            <a:ext cx="5115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05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нн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7"/>
          <p:cNvSpPr/>
          <p:nvPr/>
        </p:nvSpPr>
        <p:spPr>
          <a:xfrm>
            <a:off x="6693120" y="2541960"/>
            <a:ext cx="685800" cy="360"/>
          </a:xfrm>
          <a:prstGeom prst="line">
            <a:avLst/>
          </a:prstGeom>
          <a:ln w="27940">
            <a:solidFill>
              <a:srgbClr val="246B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1" name="Shape 28"/>
          <p:cNvSpPr/>
          <p:nvPr/>
        </p:nvSpPr>
        <p:spPr>
          <a:xfrm>
            <a:off x="7498080" y="2295000"/>
            <a:ext cx="3245760" cy="493560"/>
          </a:xfrm>
          <a:prstGeom prst="roundRect">
            <a:avLst>
              <a:gd name="adj" fmla="val 14815"/>
            </a:avLst>
          </a:prstGeom>
          <a:solidFill>
            <a:srgbClr val="EEF3F6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2" name="Text 29"/>
          <p:cNvSpPr/>
          <p:nvPr/>
        </p:nvSpPr>
        <p:spPr>
          <a:xfrm>
            <a:off x="7607880" y="2322720"/>
            <a:ext cx="3026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07e4439f-5297-11ec-8d39-…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30"/>
          <p:cNvSpPr/>
          <p:nvPr/>
        </p:nvSpPr>
        <p:spPr>
          <a:xfrm>
            <a:off x="5623560" y="3364920"/>
            <a:ext cx="2788560" cy="19015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4" name="Shape 31"/>
          <p:cNvSpPr/>
          <p:nvPr/>
        </p:nvSpPr>
        <p:spPr>
          <a:xfrm>
            <a:off x="5897880" y="3648600"/>
            <a:ext cx="347040" cy="34704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25" name="Image 3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977800" y="372492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Text 32"/>
          <p:cNvSpPr/>
          <p:nvPr/>
        </p:nvSpPr>
        <p:spPr>
          <a:xfrm>
            <a:off x="6382440" y="35935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Верхняя база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3"/>
          <p:cNvSpPr/>
          <p:nvPr/>
        </p:nvSpPr>
        <p:spPr>
          <a:xfrm>
            <a:off x="5897880" y="4142160"/>
            <a:ext cx="223992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Организация в локальном запросе — ссылка из Орг(КодОрганизации).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34"/>
          <p:cNvSpPr/>
          <p:nvPr/>
        </p:nvSpPr>
        <p:spPr>
          <a:xfrm>
            <a:off x="8732520" y="3364920"/>
            <a:ext cx="2880000" cy="19015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9" name="Shape 35"/>
          <p:cNvSpPr/>
          <p:nvPr/>
        </p:nvSpPr>
        <p:spPr>
          <a:xfrm>
            <a:off x="9006840" y="3648600"/>
            <a:ext cx="347040" cy="34704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30" name="Image 4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086760" y="372492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Text 36"/>
          <p:cNvSpPr/>
          <p:nvPr/>
        </p:nvSpPr>
        <p:spPr>
          <a:xfrm>
            <a:off x="9491400" y="35935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Нижняя база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37"/>
          <p:cNvSpPr/>
          <p:nvPr/>
        </p:nvSpPr>
        <p:spPr>
          <a:xfrm>
            <a:off x="9006840" y="4142160"/>
            <a:ext cx="226728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В HTTP уходит ГУИД этой ссылки. Код EMS на другой стороне может отличаться.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38"/>
          <p:cNvSpPr/>
          <p:nvPr/>
        </p:nvSpPr>
        <p:spPr>
          <a:xfrm>
            <a:off x="1920240" y="5687640"/>
            <a:ext cx="8320680" cy="292320"/>
          </a:xfrm>
          <a:prstGeom prst="roundRect">
            <a:avLst>
              <a:gd name="adj" fmla="val 50000"/>
            </a:avLst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4" name="Text 39"/>
          <p:cNvSpPr/>
          <p:nvPr/>
        </p:nvSpPr>
        <p:spPr>
          <a:xfrm>
            <a:off x="1993320" y="5706000"/>
            <a:ext cx="8174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Автопоиск поля организации работает только для имени «Организация»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1"/>
          <p:cNvSpPr>
            <a:spLocks noGrp="1"/>
          </p:cNvSpPr>
          <p:nvPr>
            <p:ph type="sldNum" idx="14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150100-4F64-41B5-9C7A-297EA8601DB5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11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КЛЮЧ СВЕРКИ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Из чего складывается «одинаковость» записи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Стандартный ключ зависит от типа объекта; ручные поля могут полностью изменить его поведение.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3"/>
          <p:cNvSpPr/>
          <p:nvPr/>
        </p:nvSpPr>
        <p:spPr>
          <a:xfrm>
            <a:off x="4343400" y="2194560"/>
            <a:ext cx="3520080" cy="1874160"/>
          </a:xfrm>
          <a:prstGeom prst="roundRect">
            <a:avLst>
              <a:gd name="adj" fmla="val 5854"/>
            </a:avLst>
          </a:prstGeom>
          <a:solidFill>
            <a:srgbClr val="14364A"/>
          </a:solidFill>
          <a:ln w="12700">
            <a:solidFill>
              <a:srgbClr val="244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0" name="Shape 4"/>
          <p:cNvSpPr/>
          <p:nvPr/>
        </p:nvSpPr>
        <p:spPr>
          <a:xfrm>
            <a:off x="5833800" y="2541960"/>
            <a:ext cx="456840" cy="456840"/>
          </a:xfrm>
          <a:prstGeom prst="ellipse">
            <a:avLst/>
          </a:prstGeom>
          <a:solidFill>
            <a:srgbClr val="F2C55C"/>
          </a:solidFill>
          <a:ln w="12700">
            <a:solidFill>
              <a:srgbClr val="F2C5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41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38920" y="264276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Text 5"/>
          <p:cNvSpPr/>
          <p:nvPr/>
        </p:nvSpPr>
        <p:spPr>
          <a:xfrm>
            <a:off x="4782240" y="3163680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КЛЮЧ СВЕРКИ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6"/>
          <p:cNvSpPr/>
          <p:nvPr/>
        </p:nvSpPr>
        <p:spPr>
          <a:xfrm>
            <a:off x="4782240" y="3529440"/>
            <a:ext cx="2651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9D7DE"/>
                </a:solidFill>
                <a:effectLst/>
                <a:uFillTx/>
                <a:latin typeface="Aptos"/>
                <a:ea typeface="Aptos"/>
              </a:rPr>
              <a:t>набор полей, по которому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9D7DE"/>
                </a:solidFill>
                <a:effectLst/>
                <a:uFillTx/>
                <a:latin typeface="Aptos"/>
                <a:ea typeface="Aptos"/>
              </a:rPr>
              <a:t>сравниваются строки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7"/>
          <p:cNvSpPr/>
          <p:nvPr/>
        </p:nvSpPr>
        <p:spPr>
          <a:xfrm>
            <a:off x="502920" y="1691640"/>
            <a:ext cx="324576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5" name="Shape 8"/>
          <p:cNvSpPr/>
          <p:nvPr/>
        </p:nvSpPr>
        <p:spPr>
          <a:xfrm>
            <a:off x="667440" y="1947600"/>
            <a:ext cx="310680" cy="31068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46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39080" y="201600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Text 9"/>
          <p:cNvSpPr/>
          <p:nvPr/>
        </p:nvSpPr>
        <p:spPr>
          <a:xfrm>
            <a:off x="1097280" y="184716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Справочники / документы / ПВХ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0"/>
          <p:cNvSpPr/>
          <p:nvPr/>
        </p:nvSpPr>
        <p:spPr>
          <a:xfrm>
            <a:off x="1097280" y="2176200"/>
            <a:ext cx="2358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Ссылка + организация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1"/>
          <p:cNvSpPr/>
          <p:nvPr/>
        </p:nvSpPr>
        <p:spPr>
          <a:xfrm>
            <a:off x="502920" y="4251960"/>
            <a:ext cx="324576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0" name="Shape 12"/>
          <p:cNvSpPr/>
          <p:nvPr/>
        </p:nvSpPr>
        <p:spPr>
          <a:xfrm>
            <a:off x="667440" y="4507920"/>
            <a:ext cx="310680" cy="31068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51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39080" y="457632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Text 13"/>
          <p:cNvSpPr/>
          <p:nvPr/>
        </p:nvSpPr>
        <p:spPr>
          <a:xfrm>
            <a:off x="1097280" y="44074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Регистры сведений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4"/>
          <p:cNvSpPr/>
          <p:nvPr/>
        </p:nvSpPr>
        <p:spPr>
          <a:xfrm>
            <a:off x="1097280" y="4736520"/>
            <a:ext cx="2358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измерения + регистратор + период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5"/>
          <p:cNvSpPr/>
          <p:nvPr/>
        </p:nvSpPr>
        <p:spPr>
          <a:xfrm>
            <a:off x="8412480" y="1691640"/>
            <a:ext cx="324576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5" name="Shape 16"/>
          <p:cNvSpPr/>
          <p:nvPr/>
        </p:nvSpPr>
        <p:spPr>
          <a:xfrm>
            <a:off x="8577000" y="1947600"/>
            <a:ext cx="310680" cy="31068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56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648640" y="201600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Text 17"/>
          <p:cNvSpPr/>
          <p:nvPr/>
        </p:nvSpPr>
        <p:spPr>
          <a:xfrm>
            <a:off x="9006840" y="184716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Регистры накопления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8"/>
          <p:cNvSpPr/>
          <p:nvPr/>
        </p:nvSpPr>
        <p:spPr>
          <a:xfrm>
            <a:off x="9006840" y="2176200"/>
            <a:ext cx="2358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Регистратор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9"/>
          <p:cNvSpPr/>
          <p:nvPr/>
        </p:nvSpPr>
        <p:spPr>
          <a:xfrm>
            <a:off x="8412480" y="2971800"/>
            <a:ext cx="324576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0" name="Shape 20"/>
          <p:cNvSpPr/>
          <p:nvPr/>
        </p:nvSpPr>
        <p:spPr>
          <a:xfrm>
            <a:off x="8577000" y="3227760"/>
            <a:ext cx="310680" cy="31068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61" name="Image 4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8648640" y="329616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Text 21"/>
          <p:cNvSpPr/>
          <p:nvPr/>
        </p:nvSpPr>
        <p:spPr>
          <a:xfrm>
            <a:off x="9006840" y="312732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Регистры расчёта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2"/>
          <p:cNvSpPr/>
          <p:nvPr/>
        </p:nvSpPr>
        <p:spPr>
          <a:xfrm>
            <a:off x="9006840" y="3456360"/>
            <a:ext cx="2358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шаблон «Начисления»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23"/>
          <p:cNvSpPr/>
          <p:nvPr/>
        </p:nvSpPr>
        <p:spPr>
          <a:xfrm>
            <a:off x="8412480" y="4251960"/>
            <a:ext cx="324576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5" name="Shape 24"/>
          <p:cNvSpPr/>
          <p:nvPr/>
        </p:nvSpPr>
        <p:spPr>
          <a:xfrm>
            <a:off x="8577000" y="4507920"/>
            <a:ext cx="310680" cy="310680"/>
          </a:xfrm>
          <a:prstGeom prst="ellipse">
            <a:avLst/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66" name="Image 5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648640" y="457632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Text 25"/>
          <p:cNvSpPr/>
          <p:nvPr/>
        </p:nvSpPr>
        <p:spPr>
          <a:xfrm>
            <a:off x="9006840" y="44074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Последовательности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26"/>
          <p:cNvSpPr/>
          <p:nvPr/>
        </p:nvSpPr>
        <p:spPr>
          <a:xfrm>
            <a:off x="9006840" y="4736520"/>
            <a:ext cx="2358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организация + регистратор + период + ...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7"/>
          <p:cNvSpPr/>
          <p:nvPr/>
        </p:nvSpPr>
        <p:spPr>
          <a:xfrm>
            <a:off x="3730680" y="2176200"/>
            <a:ext cx="585000" cy="521280"/>
          </a:xfrm>
          <a:prstGeom prst="line">
            <a:avLst/>
          </a:prstGeom>
          <a:ln w="21590">
            <a:solidFill>
              <a:srgbClr val="B9C3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0" name="Shape 28"/>
          <p:cNvSpPr/>
          <p:nvPr/>
        </p:nvSpPr>
        <p:spPr>
          <a:xfrm flipV="1">
            <a:off x="3730680" y="3657600"/>
            <a:ext cx="612720" cy="1069560"/>
          </a:xfrm>
          <a:prstGeom prst="line">
            <a:avLst/>
          </a:prstGeom>
          <a:ln w="21590">
            <a:solidFill>
              <a:srgbClr val="B9C3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1" name="Shape 29"/>
          <p:cNvSpPr/>
          <p:nvPr/>
        </p:nvSpPr>
        <p:spPr>
          <a:xfrm flipH="1">
            <a:off x="7881840" y="2176200"/>
            <a:ext cx="530640" cy="521280"/>
          </a:xfrm>
          <a:prstGeom prst="line">
            <a:avLst/>
          </a:prstGeom>
          <a:ln w="21590">
            <a:solidFill>
              <a:srgbClr val="B9C3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2" name="Shape 30"/>
          <p:cNvSpPr/>
          <p:nvPr/>
        </p:nvSpPr>
        <p:spPr>
          <a:xfrm flipH="1" flipV="1">
            <a:off x="7900200" y="3200400"/>
            <a:ext cx="512280" cy="255960"/>
          </a:xfrm>
          <a:prstGeom prst="line">
            <a:avLst/>
          </a:prstGeom>
          <a:ln w="21590">
            <a:solidFill>
              <a:srgbClr val="B9C3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3" name="Shape 31"/>
          <p:cNvSpPr/>
          <p:nvPr/>
        </p:nvSpPr>
        <p:spPr>
          <a:xfrm flipH="1" flipV="1">
            <a:off x="7881840" y="3657600"/>
            <a:ext cx="530640" cy="1069560"/>
          </a:xfrm>
          <a:prstGeom prst="line">
            <a:avLst/>
          </a:prstGeom>
          <a:ln w="21590">
            <a:solidFill>
              <a:srgbClr val="B9C3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4" name="Shape 32"/>
          <p:cNvSpPr/>
          <p:nvPr/>
        </p:nvSpPr>
        <p:spPr>
          <a:xfrm>
            <a:off x="502920" y="5559480"/>
            <a:ext cx="11155320" cy="566640"/>
          </a:xfrm>
          <a:prstGeom prst="roundRect">
            <a:avLst>
              <a:gd name="adj" fmla="val 19355"/>
            </a:avLst>
          </a:prstGeom>
          <a:solidFill>
            <a:srgbClr val="FBF4E2"/>
          </a:solidFill>
          <a:ln w="12700">
            <a:solidFill>
              <a:srgbClr val="E6D8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5" name="Text 33"/>
          <p:cNvSpPr/>
          <p:nvPr/>
        </p:nvSpPr>
        <p:spPr>
          <a:xfrm>
            <a:off x="749880" y="567828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C65252"/>
                </a:solidFill>
                <a:effectLst/>
                <a:uFillTx/>
                <a:latin typeface="Aptos"/>
                <a:ea typeface="Aptos"/>
              </a:rPr>
              <a:t>ОСНОВНЫЕ ПОЛЯ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34"/>
          <p:cNvSpPr/>
          <p:nvPr/>
        </p:nvSpPr>
        <p:spPr>
          <a:xfrm>
            <a:off x="2157840" y="567828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заменяют стандартный ключ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35"/>
          <p:cNvSpPr/>
          <p:nvPr/>
        </p:nvSpPr>
        <p:spPr>
          <a:xfrm>
            <a:off x="4251960" y="5678280"/>
            <a:ext cx="182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8B98A1"/>
                </a:solidFill>
                <a:effectLst/>
                <a:uFillTx/>
                <a:latin typeface="Aptos"/>
                <a:ea typeface="Aptos"/>
              </a:rPr>
              <a:t>·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36"/>
          <p:cNvSpPr/>
          <p:nvPr/>
        </p:nvSpPr>
        <p:spPr>
          <a:xfrm>
            <a:off x="4535280" y="56782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B8B7F"/>
                </a:solidFill>
                <a:effectLst/>
                <a:uFillTx/>
                <a:latin typeface="Aptos"/>
                <a:ea typeface="Aptos"/>
              </a:rPr>
              <a:t>ДОПОЛНИТЕЛЬНЫЕ ПОЛЯ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7"/>
          <p:cNvSpPr/>
          <p:nvPr/>
        </p:nvSpPr>
        <p:spPr>
          <a:xfrm>
            <a:off x="6492240" y="5678280"/>
            <a:ext cx="4480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1C2A33"/>
                </a:solidFill>
                <a:effectLst/>
                <a:uFillTx/>
                <a:latin typeface="Aptos"/>
                <a:ea typeface="Aptos"/>
              </a:rPr>
              <a:t>добавляются к стандарту, если основные пусты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1"/>
          <p:cNvSpPr>
            <a:spLocks noGrp="1"/>
          </p:cNvSpPr>
          <p:nvPr>
            <p:ph type="sldNum" idx="15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FC84CE-10A9-4EAE-BEEF-55710EECF872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12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HTTP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Четыре метода сервиса sverka — на одной схеме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Все вызовы идут POST JSON в нижнюю базу; сервис разделяет сверку, состав и регистрацию.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3"/>
          <p:cNvSpPr/>
          <p:nvPr/>
        </p:nvSpPr>
        <p:spPr>
          <a:xfrm>
            <a:off x="567000" y="1938600"/>
            <a:ext cx="1965600" cy="2651400"/>
          </a:xfrm>
          <a:prstGeom prst="roundRect">
            <a:avLst>
              <a:gd name="adj" fmla="val 5581"/>
            </a:avLst>
          </a:prstGeom>
          <a:solidFill>
            <a:srgbClr val="14364A"/>
          </a:solidFill>
          <a:ln w="12700">
            <a:solidFill>
              <a:srgbClr val="244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5" name="Shape 4"/>
          <p:cNvSpPr/>
          <p:nvPr/>
        </p:nvSpPr>
        <p:spPr>
          <a:xfrm>
            <a:off x="1344240" y="2331720"/>
            <a:ext cx="420120" cy="42012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86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41080" y="242424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Text 5"/>
          <p:cNvSpPr/>
          <p:nvPr/>
        </p:nvSpPr>
        <p:spPr>
          <a:xfrm>
            <a:off x="868680" y="2926080"/>
            <a:ext cx="1325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Верхняя база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6"/>
          <p:cNvSpPr/>
          <p:nvPr/>
        </p:nvSpPr>
        <p:spPr>
          <a:xfrm>
            <a:off x="868680" y="3364920"/>
            <a:ext cx="132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5D5DD"/>
                </a:solidFill>
                <a:effectLst/>
                <a:uFillTx/>
                <a:latin typeface="Aptos"/>
                <a:ea typeface="Aptos"/>
              </a:rPr>
              <a:t>общий логин / пароль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7"/>
          <p:cNvSpPr/>
          <p:nvPr/>
        </p:nvSpPr>
        <p:spPr>
          <a:xfrm>
            <a:off x="1005840" y="4069080"/>
            <a:ext cx="1096920" cy="292320"/>
          </a:xfrm>
          <a:prstGeom prst="roundRect">
            <a:avLst>
              <a:gd name="adj" fmla="val 50000"/>
            </a:avLst>
          </a:prstGeom>
          <a:solidFill>
            <a:srgbClr val="F2C55C"/>
          </a:solidFill>
          <a:ln w="12700">
            <a:solidFill>
              <a:srgbClr val="F2C5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0" name="Text 8"/>
          <p:cNvSpPr/>
          <p:nvPr/>
        </p:nvSpPr>
        <p:spPr>
          <a:xfrm>
            <a:off x="1078920" y="4087440"/>
            <a:ext cx="9507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POST JSON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9"/>
          <p:cNvSpPr/>
          <p:nvPr/>
        </p:nvSpPr>
        <p:spPr>
          <a:xfrm>
            <a:off x="2606040" y="3246120"/>
            <a:ext cx="850320" cy="360"/>
          </a:xfrm>
          <a:prstGeom prst="line">
            <a:avLst/>
          </a:prstGeom>
          <a:ln w="31750">
            <a:solidFill>
              <a:srgbClr val="246B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2" name="Shape 10"/>
          <p:cNvSpPr/>
          <p:nvPr/>
        </p:nvSpPr>
        <p:spPr>
          <a:xfrm>
            <a:off x="2582820" y="2336556"/>
            <a:ext cx="850680" cy="438480"/>
          </a:xfrm>
          <a:prstGeom prst="roundRect">
            <a:avLst>
              <a:gd name="adj" fmla="val 16667"/>
            </a:avLst>
          </a:prstGeom>
          <a:solidFill>
            <a:srgbClr val="EEF3F6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3" name="Text 11"/>
          <p:cNvSpPr/>
          <p:nvPr/>
        </p:nvSpPr>
        <p:spPr>
          <a:xfrm>
            <a:off x="2716200" y="2409636"/>
            <a:ext cx="1170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/</a:t>
            </a:r>
            <a:r>
              <a:rPr lang="en-US" sz="1100" b="1" u="none" strike="noStrike" dirty="0" err="1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hs</a:t>
            </a:r>
            <a:r>
              <a:rPr lang="en-US" sz="1100" b="1" u="none" strike="noStrike" dirty="0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/</a:t>
            </a:r>
            <a:r>
              <a:rPr lang="en-US" sz="1100" b="1" u="none" strike="noStrike" dirty="0" err="1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sverka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2"/>
          <p:cNvSpPr/>
          <p:nvPr/>
        </p:nvSpPr>
        <p:spPr>
          <a:xfrm>
            <a:off x="3566160" y="1664280"/>
            <a:ext cx="8092080" cy="42516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5" name="Text 13"/>
          <p:cNvSpPr/>
          <p:nvPr/>
        </p:nvSpPr>
        <p:spPr>
          <a:xfrm>
            <a:off x="3877200" y="19018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8B7F"/>
                </a:solidFill>
                <a:effectLst/>
                <a:uFillTx/>
                <a:latin typeface="Aptos"/>
                <a:ea typeface="Aptos"/>
              </a:rPr>
              <a:t>НИЖНЯЯ БАЗА · HTTP-СЕРВИС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14"/>
          <p:cNvSpPr/>
          <p:nvPr/>
        </p:nvSpPr>
        <p:spPr>
          <a:xfrm>
            <a:off x="3886200" y="2441520"/>
            <a:ext cx="310680" cy="31068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97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957840" y="250992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Shape 15"/>
          <p:cNvSpPr/>
          <p:nvPr/>
        </p:nvSpPr>
        <p:spPr>
          <a:xfrm>
            <a:off x="4343400" y="2331720"/>
            <a:ext cx="2971440" cy="529920"/>
          </a:xfrm>
          <a:prstGeom prst="roundRect">
            <a:avLst>
              <a:gd name="adj" fmla="val 13793"/>
            </a:avLst>
          </a:prstGeom>
          <a:solidFill>
            <a:srgbClr val="EEF3F6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9" name="Text 16"/>
          <p:cNvSpPr/>
          <p:nvPr/>
        </p:nvSpPr>
        <p:spPr>
          <a:xfrm>
            <a:off x="4453200" y="2359080"/>
            <a:ext cx="2751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/V1/ПакетОборотов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7"/>
          <p:cNvSpPr/>
          <p:nvPr/>
        </p:nvSpPr>
        <p:spPr>
          <a:xfrm>
            <a:off x="7571160" y="2441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сверка до 8 запросов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8"/>
          <p:cNvSpPr/>
          <p:nvPr/>
        </p:nvSpPr>
        <p:spPr>
          <a:xfrm>
            <a:off x="3886200" y="3200400"/>
            <a:ext cx="310680" cy="31068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02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957840" y="326880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Shape 19"/>
          <p:cNvSpPr/>
          <p:nvPr/>
        </p:nvSpPr>
        <p:spPr>
          <a:xfrm>
            <a:off x="4343400" y="3090600"/>
            <a:ext cx="2971440" cy="529920"/>
          </a:xfrm>
          <a:prstGeom prst="roundRect">
            <a:avLst>
              <a:gd name="adj" fmla="val 13793"/>
            </a:avLst>
          </a:prstGeom>
          <a:solidFill>
            <a:srgbClr val="EEF3F6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4" name="Text 20"/>
          <p:cNvSpPr/>
          <p:nvPr/>
        </p:nvSpPr>
        <p:spPr>
          <a:xfrm>
            <a:off x="4453200" y="3117960"/>
            <a:ext cx="2751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/V1/Обороты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21"/>
          <p:cNvSpPr/>
          <p:nvPr/>
        </p:nvSpPr>
        <p:spPr>
          <a:xfrm>
            <a:off x="7571160" y="32004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fallback одного объекта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2"/>
          <p:cNvSpPr/>
          <p:nvPr/>
        </p:nvSpPr>
        <p:spPr>
          <a:xfrm>
            <a:off x="3886200" y="3959280"/>
            <a:ext cx="310680" cy="310680"/>
          </a:xfrm>
          <a:prstGeom prst="ellipse">
            <a:avLst/>
          </a:prstGeom>
          <a:solidFill>
            <a:srgbClr val="2B8B7F"/>
          </a:solidFill>
          <a:ln w="12700">
            <a:solidFill>
              <a:srgbClr val="2B8B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07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3957840" y="402768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Shape 23"/>
          <p:cNvSpPr/>
          <p:nvPr/>
        </p:nvSpPr>
        <p:spPr>
          <a:xfrm>
            <a:off x="4343400" y="3849480"/>
            <a:ext cx="2971440" cy="529920"/>
          </a:xfrm>
          <a:prstGeom prst="roundRect">
            <a:avLst>
              <a:gd name="adj" fmla="val 13793"/>
            </a:avLst>
          </a:prstGeom>
          <a:solidFill>
            <a:srgbClr val="EEF3F6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9" name="Text 24"/>
          <p:cNvSpPr/>
          <p:nvPr/>
        </p:nvSpPr>
        <p:spPr>
          <a:xfrm>
            <a:off x="4453200" y="3877200"/>
            <a:ext cx="2751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/V1/СоставДляСверки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25"/>
          <p:cNvSpPr/>
          <p:nvPr/>
        </p:nvSpPr>
        <p:spPr>
          <a:xfrm>
            <a:off x="7571160" y="39592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заполнение метаданных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26"/>
          <p:cNvSpPr/>
          <p:nvPr/>
        </p:nvSpPr>
        <p:spPr>
          <a:xfrm>
            <a:off x="3886200" y="4718160"/>
            <a:ext cx="310680" cy="310680"/>
          </a:xfrm>
          <a:prstGeom prst="ellipse">
            <a:avLst/>
          </a:prstGeom>
          <a:solidFill>
            <a:srgbClr val="3E9B75"/>
          </a:solidFill>
          <a:ln w="12700">
            <a:solidFill>
              <a:srgbClr val="3E9B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12" name="Image 4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3957840" y="4786560"/>
            <a:ext cx="167400" cy="1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3" name="Shape 27"/>
          <p:cNvSpPr/>
          <p:nvPr/>
        </p:nvSpPr>
        <p:spPr>
          <a:xfrm>
            <a:off x="4343400" y="4608720"/>
            <a:ext cx="2971440" cy="529920"/>
          </a:xfrm>
          <a:prstGeom prst="roundRect">
            <a:avLst>
              <a:gd name="adj" fmla="val 13793"/>
            </a:avLst>
          </a:prstGeom>
          <a:solidFill>
            <a:srgbClr val="EEF3F6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4" name="Text 28"/>
          <p:cNvSpPr/>
          <p:nvPr/>
        </p:nvSpPr>
        <p:spPr>
          <a:xfrm>
            <a:off x="4453200" y="4636080"/>
            <a:ext cx="2751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/V1/register-changes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29"/>
          <p:cNvSpPr/>
          <p:nvPr/>
        </p:nvSpPr>
        <p:spPr>
          <a:xfrm>
            <a:off x="7571160" y="47181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регистрация к обмену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30"/>
          <p:cNvSpPr/>
          <p:nvPr/>
        </p:nvSpPr>
        <p:spPr>
          <a:xfrm>
            <a:off x="9848160" y="2331720"/>
            <a:ext cx="1416960" cy="2715480"/>
          </a:xfrm>
          <a:prstGeom prst="roundRect">
            <a:avLst>
              <a:gd name="adj" fmla="val 7742"/>
            </a:avLst>
          </a:prstGeom>
          <a:solidFill>
            <a:srgbClr val="EFF4F7"/>
          </a:solidFill>
          <a:ln w="12700">
            <a:solidFill>
              <a:srgbClr val="D5E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7" name="Text 31"/>
          <p:cNvSpPr/>
          <p:nvPr/>
        </p:nvSpPr>
        <p:spPr>
          <a:xfrm>
            <a:off x="10058400" y="2587680"/>
            <a:ext cx="987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Ответ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32"/>
          <p:cNvSpPr/>
          <p:nvPr/>
        </p:nvSpPr>
        <p:spPr>
          <a:xfrm>
            <a:off x="10378440" y="3044880"/>
            <a:ext cx="347040" cy="347040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19" name="Image 5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0458360" y="312156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Text 33"/>
          <p:cNvSpPr/>
          <p:nvPr/>
        </p:nvSpPr>
        <p:spPr>
          <a:xfrm>
            <a:off x="10040040" y="3547800"/>
            <a:ext cx="1023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строки 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таблица типов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34"/>
          <p:cNvSpPr/>
          <p:nvPr/>
        </p:nvSpPr>
        <p:spPr>
          <a:xfrm>
            <a:off x="9994320" y="4270320"/>
            <a:ext cx="11152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ссылки переводятся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в верхнюю базу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35"/>
          <p:cNvSpPr/>
          <p:nvPr/>
        </p:nvSpPr>
        <p:spPr>
          <a:xfrm>
            <a:off x="2304360" y="6080760"/>
            <a:ext cx="7680600" cy="292320"/>
          </a:xfrm>
          <a:prstGeom prst="roundRect">
            <a:avLst>
              <a:gd name="adj" fmla="val 50000"/>
            </a:avLst>
          </a:prstGeom>
          <a:solidFill>
            <a:srgbClr val="14364A"/>
          </a:solidFill>
          <a:ln w="12700">
            <a:solidFill>
              <a:srgbClr val="14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23" name="Text 36"/>
          <p:cNvSpPr/>
          <p:nvPr/>
        </p:nvSpPr>
        <p:spPr>
          <a:xfrm>
            <a:off x="2377440" y="6099120"/>
            <a:ext cx="75344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Оптимизация: пакет принят → продолжаем пакетно; ошибка → хвост идёт по одному объекту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1"/>
          <p:cNvSpPr>
            <a:spLocks noGrp="1"/>
          </p:cNvSpPr>
          <p:nvPr>
            <p:ph type="sldNum" idx="16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61A9A9-B2D6-4319-9F32-13EA3F1B5538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13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Text 0"/>
          <p:cNvSpPr/>
          <p:nvPr/>
        </p:nvSpPr>
        <p:spPr>
          <a:xfrm>
            <a:off x="457200" y="25596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79">
                <a:solidFill>
                  <a:srgbClr val="246B8E"/>
                </a:solidFill>
                <a:effectLst/>
                <a:uFillTx/>
                <a:latin typeface="Aptos"/>
                <a:ea typeface="Aptos"/>
              </a:rPr>
              <a:t>ЛОВУШКИ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"/>
          <p:cNvSpPr/>
          <p:nvPr/>
        </p:nvSpPr>
        <p:spPr>
          <a:xfrm>
            <a:off x="45720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Что легко понять неправильно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2"/>
          <p:cNvSpPr/>
          <p:nvPr/>
        </p:nvSpPr>
        <p:spPr>
          <a:xfrm>
            <a:off x="457200" y="1051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Финальный слайд — самые опасные места, которые стоит помнить при отладке.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3"/>
          <p:cNvSpPr/>
          <p:nvPr/>
        </p:nvSpPr>
        <p:spPr>
          <a:xfrm>
            <a:off x="502920" y="1691640"/>
            <a:ext cx="321840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29" name="Shape 4"/>
          <p:cNvSpPr/>
          <p:nvPr/>
        </p:nvSpPr>
        <p:spPr>
          <a:xfrm>
            <a:off x="685800" y="1920240"/>
            <a:ext cx="347040" cy="34704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30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5720" y="199656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Text 5"/>
          <p:cNvSpPr/>
          <p:nvPr/>
        </p:nvSpPr>
        <p:spPr>
          <a:xfrm>
            <a:off x="1161360" y="1856160"/>
            <a:ext cx="2331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«Сравнить» ≠ обмен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6"/>
          <p:cNvSpPr/>
          <p:nvPr/>
        </p:nvSpPr>
        <p:spPr>
          <a:xfrm>
            <a:off x="685800" y="2459880"/>
            <a:ext cx="28159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Кнопка находит расхождения и обновляет регистр сообщений — данные не переносит.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7"/>
          <p:cNvSpPr/>
          <p:nvPr/>
        </p:nvSpPr>
        <p:spPr>
          <a:xfrm>
            <a:off x="4069080" y="1691640"/>
            <a:ext cx="321840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4" name="Shape 8"/>
          <p:cNvSpPr/>
          <p:nvPr/>
        </p:nvSpPr>
        <p:spPr>
          <a:xfrm>
            <a:off x="4251960" y="1920240"/>
            <a:ext cx="347040" cy="34704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35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331880" y="199656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Text 9"/>
          <p:cNvSpPr/>
          <p:nvPr/>
        </p:nvSpPr>
        <p:spPr>
          <a:xfrm>
            <a:off x="4727520" y="1856160"/>
            <a:ext cx="2331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Ошибка соединения стирает старое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0"/>
          <p:cNvSpPr/>
          <p:nvPr/>
        </p:nvSpPr>
        <p:spPr>
          <a:xfrm>
            <a:off x="4251960" y="2459880"/>
            <a:ext cx="28159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База пропускается, но набор сообщений всё равно заменяется.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1"/>
          <p:cNvSpPr/>
          <p:nvPr/>
        </p:nvSpPr>
        <p:spPr>
          <a:xfrm>
            <a:off x="7635240" y="1691640"/>
            <a:ext cx="321840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9" name="Shape 12"/>
          <p:cNvSpPr/>
          <p:nvPr/>
        </p:nvSpPr>
        <p:spPr>
          <a:xfrm>
            <a:off x="7818120" y="1920240"/>
            <a:ext cx="347040" cy="34704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40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898040" y="199656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1" name="Text 13"/>
          <p:cNvSpPr/>
          <p:nvPr/>
        </p:nvSpPr>
        <p:spPr>
          <a:xfrm>
            <a:off x="8293680" y="1856160"/>
            <a:ext cx="2331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Период на форме — фантом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4"/>
          <p:cNvSpPr/>
          <p:nvPr/>
        </p:nvSpPr>
        <p:spPr>
          <a:xfrm>
            <a:off x="7818120" y="2459880"/>
            <a:ext cx="28159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Регистр непериодический; время хранится в измерении Дата.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5"/>
          <p:cNvSpPr/>
          <p:nvPr/>
        </p:nvSpPr>
        <p:spPr>
          <a:xfrm>
            <a:off x="502920" y="3429000"/>
            <a:ext cx="321840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44" name="Shape 16"/>
          <p:cNvSpPr/>
          <p:nvPr/>
        </p:nvSpPr>
        <p:spPr>
          <a:xfrm>
            <a:off x="685800" y="3657600"/>
            <a:ext cx="347040" cy="34704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45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65720" y="373392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Text 17"/>
          <p:cNvSpPr/>
          <p:nvPr/>
        </p:nvSpPr>
        <p:spPr>
          <a:xfrm>
            <a:off x="1161360" y="3593520"/>
            <a:ext cx="2331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WS-логин на странице баз не используется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8"/>
          <p:cNvSpPr/>
          <p:nvPr/>
        </p:nvSpPr>
        <p:spPr>
          <a:xfrm>
            <a:off x="685800" y="4197240"/>
            <a:ext cx="28159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Фактический логин один и хранится на странице «Настройки».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19"/>
          <p:cNvSpPr/>
          <p:nvPr/>
        </p:nvSpPr>
        <p:spPr>
          <a:xfrm>
            <a:off x="4069080" y="3429000"/>
            <a:ext cx="321840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49" name="Shape 20"/>
          <p:cNvSpPr/>
          <p:nvPr/>
        </p:nvSpPr>
        <p:spPr>
          <a:xfrm>
            <a:off x="4251960" y="3657600"/>
            <a:ext cx="347040" cy="347040"/>
          </a:xfrm>
          <a:prstGeom prst="ellipse">
            <a:avLst/>
          </a:prstGeom>
          <a:solidFill>
            <a:srgbClr val="D98C3F"/>
          </a:solidFill>
          <a:ln w="12700">
            <a:solidFill>
              <a:srgbClr val="D98C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50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331880" y="373392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Text 21"/>
          <p:cNvSpPr/>
          <p:nvPr/>
        </p:nvSpPr>
        <p:spPr>
          <a:xfrm>
            <a:off x="4727520" y="3593520"/>
            <a:ext cx="2331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Основные поля меняют смысл ключа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22"/>
          <p:cNvSpPr/>
          <p:nvPr/>
        </p:nvSpPr>
        <p:spPr>
          <a:xfrm>
            <a:off x="4251960" y="4197240"/>
            <a:ext cx="28159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Они заменяют стандартный набор, а не дополняют его.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23"/>
          <p:cNvSpPr/>
          <p:nvPr/>
        </p:nvSpPr>
        <p:spPr>
          <a:xfrm>
            <a:off x="7635240" y="3429000"/>
            <a:ext cx="321840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4" name="Shape 24"/>
          <p:cNvSpPr/>
          <p:nvPr/>
        </p:nvSpPr>
        <p:spPr>
          <a:xfrm>
            <a:off x="7818120" y="3657600"/>
            <a:ext cx="347040" cy="347040"/>
          </a:xfrm>
          <a:prstGeom prst="ellipse">
            <a:avLst/>
          </a:prstGeom>
          <a:solidFill>
            <a:srgbClr val="C65252"/>
          </a:solidFill>
          <a:ln w="12700">
            <a:solidFill>
              <a:srgbClr val="C6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55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898040" y="3733920"/>
            <a:ext cx="18720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6" name="Text 25"/>
          <p:cNvSpPr/>
          <p:nvPr/>
        </p:nvSpPr>
        <p:spPr>
          <a:xfrm>
            <a:off x="8293680" y="3593520"/>
            <a:ext cx="2331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Регистру сведений нужен #ОТБОР#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26"/>
          <p:cNvSpPr/>
          <p:nvPr/>
        </p:nvSpPr>
        <p:spPr>
          <a:xfrm>
            <a:off x="7818120" y="4197240"/>
            <a:ext cx="28159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680"/>
                </a:solidFill>
                <a:effectLst/>
                <a:uFillTx/>
                <a:latin typeface="Aptos"/>
                <a:ea typeface="Aptos"/>
              </a:rPr>
              <a:t>Суффикс появляется после новой сверки и нужен для регистрации записи.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27"/>
          <p:cNvSpPr/>
          <p:nvPr/>
        </p:nvSpPr>
        <p:spPr>
          <a:xfrm>
            <a:off x="502920" y="5248800"/>
            <a:ext cx="10716480" cy="822600"/>
          </a:xfrm>
          <a:prstGeom prst="roundRect">
            <a:avLst>
              <a:gd name="adj" fmla="val 13333"/>
            </a:avLst>
          </a:prstGeom>
          <a:solidFill>
            <a:srgbClr val="14364A"/>
          </a:solidFill>
          <a:ln w="12700">
            <a:solidFill>
              <a:srgbClr val="244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59" name="Image 6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786240" y="5504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Text 28"/>
          <p:cNvSpPr/>
          <p:nvPr/>
        </p:nvSpPr>
        <p:spPr>
          <a:xfrm>
            <a:off x="1207080" y="540396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9EC0D0"/>
                </a:solidFill>
                <a:effectLst/>
                <a:uFillTx/>
                <a:latin typeface="Aptos"/>
                <a:ea typeface="Aptos"/>
              </a:rPr>
              <a:t>Три правила для отладки: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29"/>
          <p:cNvSpPr/>
          <p:nvPr/>
        </p:nvSpPr>
        <p:spPr>
          <a:xfrm>
            <a:off x="2926080" y="5403960"/>
            <a:ext cx="7973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1) сначала проверить параметры базы  ·  2) затем состав и ключи  ·  3) только потом HTTP и регистрацию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30"/>
          <p:cNvSpPr/>
          <p:nvPr/>
        </p:nvSpPr>
        <p:spPr>
          <a:xfrm>
            <a:off x="1572840" y="6199560"/>
            <a:ext cx="9052200" cy="292320"/>
          </a:xfrm>
          <a:prstGeom prst="roundRect">
            <a:avLst>
              <a:gd name="adj" fmla="val 50000"/>
            </a:avLst>
          </a:prstGeom>
          <a:solidFill>
            <a:srgbClr val="F2C55C"/>
          </a:solidFill>
          <a:ln w="12700">
            <a:solidFill>
              <a:srgbClr val="F2C5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3" name="Text 31"/>
          <p:cNvSpPr/>
          <p:nvPr/>
        </p:nvSpPr>
        <p:spPr>
          <a:xfrm>
            <a:off x="1645920" y="6217920"/>
            <a:ext cx="89060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14364A"/>
                </a:solidFill>
                <a:effectLst/>
                <a:uFillTx/>
                <a:latin typeface="Aptos"/>
                <a:ea typeface="Aptos"/>
              </a:rPr>
              <a:t>Сценарий: сравнить → разобрать расхождения → зарегистрировать → выполнить стандартный обмен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1"/>
          <p:cNvSpPr>
            <a:spLocks noGrp="1"/>
          </p:cNvSpPr>
          <p:nvPr>
            <p:ph type="sldNum" idx="17"/>
          </p:nvPr>
        </p:nvSpPr>
        <p:spPr>
          <a:xfrm>
            <a:off x="11247120" y="6510600"/>
            <a:ext cx="5025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5563AB-CBE0-419E-8F6A-8FBDA7F474B3}" type="slidenum">
              <a:rPr lang="en-US" sz="850" b="0" u="none" strike="noStrike">
                <a:solidFill>
                  <a:srgbClr val="7E8A94"/>
                </a:solidFill>
                <a:effectLst/>
                <a:uFillTx/>
                <a:latin typeface="Aptos"/>
              </a:rPr>
              <a:t>14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1432</Words>
  <Application>Microsoft Office PowerPoint</Application>
  <PresentationFormat>Широкоэкранный</PresentationFormat>
  <Paragraphs>347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Aptos</vt:lpstr>
      <vt:lpstr>Arial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admech</cp:lastModifiedBy>
  <cp:revision>2</cp:revision>
  <dcterms:modified xsi:type="dcterms:W3CDTF">2026-10-14T14:21:07Z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2026-10-14T13:50:45Z</dcterms:created>
  <dc:creator>OpenAI</dc:creator>
  <dc:description/>
  <dc:language>en-US</dc:language>
  <cp:lastModifiedBy>OpenAI</cp:lastModifiedBy>
  <dcterms:modified xsi:type="dcterms:W3CDTF">2026-10-14T13:50:45Z</dcterms:modified>
  <cp:revision>1</cp:revision>
  <dc:subject>EMS — Проверка синхронизации</dc:subject>
  <dc:title>Проверка синхронизации EMS — визуальная версия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